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6" r:id="rId1"/>
  </p:sldMasterIdLst>
  <p:notesMasterIdLst>
    <p:notesMasterId r:id="rId12"/>
  </p:notesMasterIdLst>
  <p:sldIdLst>
    <p:sldId id="258" r:id="rId2"/>
    <p:sldId id="263" r:id="rId3"/>
    <p:sldId id="264" r:id="rId4"/>
    <p:sldId id="265" r:id="rId5"/>
    <p:sldId id="273" r:id="rId6"/>
    <p:sldId id="267" r:id="rId7"/>
    <p:sldId id="268" r:id="rId8"/>
    <p:sldId id="266" r:id="rId9"/>
    <p:sldId id="274" r:id="rId10"/>
    <p:sldId id="270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E1D1D"/>
    <a:srgbClr val="E96F76"/>
    <a:srgbClr val="BBB3AA"/>
    <a:srgbClr val="0044B2"/>
    <a:srgbClr val="177D3D"/>
    <a:srgbClr val="02B944"/>
    <a:srgbClr val="E5E2DE"/>
    <a:srgbClr val="F2E0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17"/>
    <p:restoredTop sz="94615"/>
  </p:normalViewPr>
  <p:slideViewPr>
    <p:cSldViewPr snapToGrid="0">
      <p:cViewPr>
        <p:scale>
          <a:sx n="86" d="100"/>
          <a:sy n="86" d="100"/>
        </p:scale>
        <p:origin x="176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est/Downloads/Book1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est/Downloads/Book1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est/Downloads/Book1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600"/>
              <a:t>Cross-Site Comparison: Average Curtailment Performance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Sheet1!$B$18</c:f>
              <c:strCache>
                <c:ptCount val="1"/>
                <c:pt idx="0">
                  <c:v>10of10 Avg (kW)</c:v>
                </c:pt>
              </c:strCache>
            </c:strRef>
          </c:tx>
          <c:spPr>
            <a:solidFill>
              <a:srgbClr val="0070C0"/>
            </a:solidFill>
            <a:ln>
              <a:noFill/>
            </a:ln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rgbClr val="E96F7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AE2A-7A40-8CC4-E3FBE383E458}"/>
              </c:ext>
            </c:extLst>
          </c:dPt>
          <c:dLbls>
            <c:dLbl>
              <c:idx val="4"/>
              <c:layout>
                <c:manualLayout>
                  <c:x val="-4.4928087643024764E-3"/>
                  <c:y val="7.8765440521238905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AE2A-7A40-8CC4-E3FBE383E45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Sheet1!$A$19:$A$23</c:f>
              <c:strCache>
                <c:ptCount val="5"/>
                <c:pt idx="0">
                  <c:v>Site 1</c:v>
                </c:pt>
                <c:pt idx="1">
                  <c:v>Site 2</c:v>
                </c:pt>
                <c:pt idx="2">
                  <c:v>Site 3</c:v>
                </c:pt>
                <c:pt idx="3">
                  <c:v>Site 5</c:v>
                </c:pt>
                <c:pt idx="4">
                  <c:v>Site 6</c:v>
                </c:pt>
              </c:strCache>
            </c:strRef>
          </c:cat>
          <c:val>
            <c:numRef>
              <c:f>Sheet1!$B$19:$B$23</c:f>
              <c:numCache>
                <c:formatCode>General</c:formatCode>
                <c:ptCount val="5"/>
                <c:pt idx="0">
                  <c:v>3937</c:v>
                </c:pt>
                <c:pt idx="1">
                  <c:v>4345</c:v>
                </c:pt>
                <c:pt idx="2">
                  <c:v>649</c:v>
                </c:pt>
                <c:pt idx="3">
                  <c:v>3500</c:v>
                </c:pt>
                <c:pt idx="4">
                  <c:v>-12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2A-7A40-8CC4-E3FBE383E45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6"/>
        <c:overlap val="-27"/>
        <c:axId val="2026515840"/>
        <c:axId val="2027540864"/>
      </c:barChart>
      <c:catAx>
        <c:axId val="20265158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27540864"/>
        <c:crosses val="autoZero"/>
        <c:auto val="1"/>
        <c:lblAlgn val="ctr"/>
        <c:lblOffset val="100"/>
        <c:noMultiLvlLbl val="0"/>
      </c:catAx>
      <c:valAx>
        <c:axId val="20275408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Avg 10of10 Performance (kW)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2651584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Sheet1!$D$1</c:f>
              <c:strCache>
                <c:ptCount val="1"/>
                <c:pt idx="0">
                  <c:v>Voltus Profit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6092-8D46-9EFC-25ECC269E8AE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092-8D46-9EFC-25ECC269E8AE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6092-8D46-9EFC-25ECC269E8AE}"/>
              </c:ext>
            </c:extLst>
          </c:dPt>
          <c:dPt>
            <c:idx val="3"/>
            <c:bubble3D val="0"/>
            <c:spPr>
              <a:solidFill>
                <a:srgbClr val="177D3D"/>
              </a:solidFill>
              <a:ln w="19050">
                <a:solidFill>
                  <a:schemeClr val="lt1"/>
                </a:solidFill>
              </a:ln>
              <a:effectLst>
                <a:softEdge rad="0"/>
              </a:effectLst>
            </c:spPr>
            <c:extLst>
              <c:ext xmlns:c16="http://schemas.microsoft.com/office/drawing/2014/chart" uri="{C3380CC4-5D6E-409C-BE32-E72D297353CC}">
                <c16:uniqueId val="{00000007-6092-8D46-9EFC-25ECC269E8AE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6092-8D46-9EFC-25ECC269E8AE}"/>
              </c:ext>
            </c:extLst>
          </c:dPt>
          <c:dLbls>
            <c:dLbl>
              <c:idx val="0"/>
              <c:layout>
                <c:manualLayout>
                  <c:x val="-0.15042298653592165"/>
                  <c:y val="0.17070383293507657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6092-8D46-9EFC-25ECC269E8AE}"/>
                </c:ext>
              </c:extLst>
            </c:dLbl>
            <c:dLbl>
              <c:idx val="1"/>
              <c:layout>
                <c:manualLayout>
                  <c:x val="-7.0524543866631789E-2"/>
                  <c:y val="-0.17326267362552319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6092-8D46-9EFC-25ECC269E8AE}"/>
                </c:ext>
              </c:extLst>
            </c:dLbl>
            <c:dLbl>
              <c:idx val="2"/>
              <c:layout>
                <c:manualLayout>
                  <c:x val="0.15863249986690564"/>
                  <c:y val="-5.8157093180778822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6092-8D46-9EFC-25ECC269E8AE}"/>
                </c:ext>
              </c:extLst>
            </c:dLbl>
            <c:dLbl>
              <c:idx val="3"/>
              <c:layout>
                <c:manualLayout>
                  <c:x val="0.14722694742392706"/>
                  <c:y val="0.1540859478883167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6092-8D46-9EFC-25ECC269E8A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Sheet1!$A$2:$A$6</c:f>
              <c:strCache>
                <c:ptCount val="5"/>
                <c:pt idx="0">
                  <c:v>Site 1</c:v>
                </c:pt>
                <c:pt idx="1">
                  <c:v>Site 2</c:v>
                </c:pt>
                <c:pt idx="2">
                  <c:v>Site 3</c:v>
                </c:pt>
                <c:pt idx="3">
                  <c:v>Site 5</c:v>
                </c:pt>
                <c:pt idx="4">
                  <c:v>Site 6</c:v>
                </c:pt>
              </c:strCache>
            </c:strRef>
          </c:cat>
          <c:val>
            <c:numRef>
              <c:f>Sheet1!$D$2:$D$6</c:f>
              <c:numCache>
                <c:formatCode>"$"#,##0_);[Red]\("$"#,##0\)</c:formatCode>
                <c:ptCount val="5"/>
                <c:pt idx="0">
                  <c:v>8718</c:v>
                </c:pt>
                <c:pt idx="1">
                  <c:v>11693</c:v>
                </c:pt>
                <c:pt idx="2">
                  <c:v>2024</c:v>
                </c:pt>
                <c:pt idx="3">
                  <c:v>8356</c:v>
                </c:pt>
                <c:pt idx="4">
                  <c:v>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6092-8D46-9EFC-25ECC269E8AE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600"/>
              <a:t>Site 2: Gross Revenue by Hour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Sheet1!$F$10</c:f>
              <c:strCache>
                <c:ptCount val="1"/>
                <c:pt idx="0">
                  <c:v>Gross Rev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070C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F809-9B47-9FD5-37DAD718164C}"/>
              </c:ext>
            </c:extLst>
          </c:dPt>
          <c:dPt>
            <c:idx val="1"/>
            <c:invertIfNegative val="0"/>
            <c:bubble3D val="0"/>
            <c:spPr>
              <a:solidFill>
                <a:srgbClr val="0070C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809-9B47-9FD5-37DAD718164C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809-9B47-9FD5-37DAD718164C}"/>
              </c:ext>
            </c:extLst>
          </c:dPt>
          <c:dPt>
            <c:idx val="3"/>
            <c:invertIfNegative val="0"/>
            <c:bubble3D val="0"/>
            <c:spPr>
              <a:solidFill>
                <a:srgbClr val="0070C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F809-9B47-9FD5-37DAD718164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/>
                      <a:t>$6,625</a:t>
                    </a:r>
                  </a:p>
                  <a:p>
                    <a:r>
                      <a:rPr lang="en-US"/>
                      <a:t>($1500/MWh)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F809-9B47-9FD5-37DAD718164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900" b="0" i="0" u="none" strike="noStrike" kern="1200" baseline="0">
                        <a:solidFill>
                          <a:sysClr val="windowText" lastClr="000000">
                            <a:lumMod val="75000"/>
                            <a:lumOff val="25000"/>
                          </a:sysClr>
                        </a:solidFill>
                      </a:rPr>
                      <a:t>$7.841</a:t>
                    </a:r>
                  </a:p>
                  <a:p>
                    <a:r>
                      <a:rPr lang="en-US" sz="900" b="0" i="0" u="none" strike="noStrike" kern="1200" baseline="0">
                        <a:solidFill>
                          <a:sysClr val="windowText" lastClr="000000">
                            <a:lumMod val="75000"/>
                            <a:lumOff val="25000"/>
                          </a:sysClr>
                        </a:solidFill>
                      </a:rPr>
                      <a:t>($1800/MWh)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F809-9B47-9FD5-37DAD718164C}"/>
                </c:ext>
              </c:extLst>
            </c:dLbl>
            <c:dLbl>
              <c:idx val="2"/>
              <c:layout>
                <c:manualLayout>
                  <c:x val="-1.0178929444946239E-16"/>
                  <c:y val="3.7310199051380846E-2"/>
                </c:manualLayout>
              </c:layout>
              <c:tx>
                <c:rich>
                  <a:bodyPr/>
                  <a:lstStyle/>
                  <a:p>
                    <a:r>
                      <a:rPr lang="en-US" sz="900" b="0" i="0" u="none" strike="noStrike" kern="1200" baseline="0">
                        <a:solidFill>
                          <a:sysClr val="windowText" lastClr="000000">
                            <a:lumMod val="75000"/>
                            <a:lumOff val="25000"/>
                          </a:sysClr>
                        </a:solidFill>
                      </a:rPr>
                      <a:t>$12,961</a:t>
                    </a:r>
                  </a:p>
                  <a:p>
                    <a:r>
                      <a:rPr lang="en-US" sz="900" b="0" i="0" u="none" strike="noStrike" kern="1200" baseline="0">
                        <a:solidFill>
                          <a:sysClr val="windowText" lastClr="000000">
                            <a:lumMod val="75000"/>
                            <a:lumOff val="25000"/>
                          </a:sysClr>
                        </a:solidFill>
                      </a:rPr>
                      <a:t>($3000/MWh)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F809-9B47-9FD5-37DAD718164C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900" b="0" i="0" u="none" strike="noStrike" kern="1200" baseline="0">
                        <a:solidFill>
                          <a:sysClr val="windowText" lastClr="000000">
                            <a:lumMod val="75000"/>
                            <a:lumOff val="25000"/>
                          </a:sysClr>
                        </a:solidFill>
                      </a:rPr>
                      <a:t>$3,343</a:t>
                    </a:r>
                  </a:p>
                  <a:p>
                    <a:r>
                      <a:rPr lang="en-US" sz="900" b="0" i="0" u="none" strike="noStrike" kern="1200" baseline="0">
                        <a:solidFill>
                          <a:sysClr val="windowText" lastClr="000000">
                            <a:lumMod val="75000"/>
                            <a:lumOff val="25000"/>
                          </a:sysClr>
                        </a:solidFill>
                      </a:rPr>
                      <a:t>($780/MWh)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F809-9B47-9FD5-37DAD718164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5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Sheet1!$A$11:$A$14</c:f>
              <c:numCache>
                <c:formatCode>h:mm</c:formatCode>
                <c:ptCount val="4"/>
                <c:pt idx="0">
                  <c:v>0.58333333333333337</c:v>
                </c:pt>
                <c:pt idx="1">
                  <c:v>0.625</c:v>
                </c:pt>
                <c:pt idx="2">
                  <c:v>0.66666666666666663</c:v>
                </c:pt>
                <c:pt idx="3">
                  <c:v>0.70833333333333337</c:v>
                </c:pt>
              </c:numCache>
            </c:numRef>
          </c:cat>
          <c:val>
            <c:numRef>
              <c:f>Sheet1!$F$11:$F$14</c:f>
              <c:numCache>
                <c:formatCode>"$"#,##0_);[Red]\("$"#,##0\)</c:formatCode>
                <c:ptCount val="4"/>
                <c:pt idx="0">
                  <c:v>6625</c:v>
                </c:pt>
                <c:pt idx="1">
                  <c:v>7841</c:v>
                </c:pt>
                <c:pt idx="2">
                  <c:v>12961</c:v>
                </c:pt>
                <c:pt idx="3">
                  <c:v>3343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F809-9B47-9FD5-37DAD718164C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0"/>
        <c:overlap val="-27"/>
        <c:axId val="2026547264"/>
        <c:axId val="2026549056"/>
      </c:barChart>
      <c:catAx>
        <c:axId val="2026547264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5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Hour (EDT)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5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h:mm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26549056"/>
        <c:crosses val="autoZero"/>
        <c:auto val="1"/>
        <c:lblAlgn val="ctr"/>
        <c:lblOffset val="100"/>
        <c:noMultiLvlLbl val="0"/>
      </c:catAx>
      <c:valAx>
        <c:axId val="202654905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5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Gross Revenue (USD)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5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&quot;$&quot;#,##0_);[Red]\(&quot;$&quot;#,##0\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2654726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05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AD7D89-F6F2-EB46-942D-37A2D9DCF75A}" type="datetimeFigureOut">
              <a:rPr lang="en-US" smtClean="0"/>
              <a:t>3/4/26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79FEAE-CFCD-DF44-B4BF-0C6F19F88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472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79FEAE-CFCD-DF44-B4BF-0C6F19F8831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8796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5771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0410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4246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20638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80840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5725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1528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639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1444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5741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6577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3/4/26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81008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5" r:id="rId6"/>
    <p:sldLayoutId id="2147483680" r:id="rId7"/>
    <p:sldLayoutId id="2147483681" r:id="rId8"/>
    <p:sldLayoutId id="2147483682" r:id="rId9"/>
    <p:sldLayoutId id="2147483684" r:id="rId10"/>
    <p:sldLayoutId id="2147483683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B94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EF5FFC-FB3F-8DC0-855F-72BBAAB69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2635874-2B14-286F-342B-207A77F33C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074" name="Picture 2" descr="A digital illustration of a power grid, showcasing the complex network of  power lines and towers">
            <a:extLst>
              <a:ext uri="{FF2B5EF4-FFF2-40B4-BE49-F238E27FC236}">
                <a16:creationId xmlns:a16="http://schemas.microsoft.com/office/drawing/2014/main" id="{4F3E0422-F4F2-69FF-30BB-BD61F786446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361" t="-847" r="19047" b="847"/>
          <a:stretch>
            <a:fillRect/>
          </a:stretch>
        </p:blipFill>
        <p:spPr bwMode="auto">
          <a:xfrm>
            <a:off x="6415314" y="-54883"/>
            <a:ext cx="5924343" cy="6967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090575B-4F7E-424C-6717-99974B900C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70" y="978407"/>
            <a:ext cx="5021182" cy="3290107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700" dirty="0">
                <a:solidFill>
                  <a:srgbClr val="FFFFFF"/>
                </a:solidFill>
              </a:rPr>
              <a:t>Demand Response Event Analysis: 6/14/22 Heat Wave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264CAA-CC03-F829-34EF-E7311DE148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7870" y="4268514"/>
            <a:ext cx="5040785" cy="1058229"/>
          </a:xfrm>
        </p:spPr>
        <p:txBody>
          <a:bodyPr anchor="t">
            <a:normAutofit/>
          </a:bodyPr>
          <a:lstStyle/>
          <a:p>
            <a:r>
              <a:rPr lang="en-US" sz="2400" dirty="0">
                <a:solidFill>
                  <a:srgbClr val="FFFFFF"/>
                </a:solidFill>
              </a:rPr>
              <a:t>Customer Performance, Baseline Comparison, and Financial 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3BFBF61-908B-4EE8-11B5-D6756AF11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BDCE3990-F008-9196-C9CA-B4AE74ABBACA}"/>
              </a:ext>
            </a:extLst>
          </p:cNvPr>
          <p:cNvSpPr txBox="1">
            <a:spLocks/>
          </p:cNvSpPr>
          <p:nvPr/>
        </p:nvSpPr>
        <p:spPr>
          <a:xfrm>
            <a:off x="517870" y="5706301"/>
            <a:ext cx="3212301" cy="7721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sz="1800" i="0" dirty="0">
                <a:solidFill>
                  <a:srgbClr val="FFFFFF"/>
                </a:solidFill>
              </a:rPr>
              <a:t>Ruiyan Huang</a:t>
            </a:r>
          </a:p>
          <a:p>
            <a:pPr>
              <a:lnSpc>
                <a:spcPct val="100000"/>
              </a:lnSpc>
            </a:pPr>
            <a:r>
              <a:rPr lang="en-US" sz="1800" i="0" dirty="0">
                <a:solidFill>
                  <a:srgbClr val="FFFFFF"/>
                </a:solidFill>
              </a:rPr>
              <a:t>Mar 2, 2026</a:t>
            </a:r>
          </a:p>
        </p:txBody>
      </p:sp>
    </p:spTree>
    <p:extLst>
      <p:ext uri="{BB962C8B-B14F-4D97-AF65-F5344CB8AC3E}">
        <p14:creationId xmlns:p14="http://schemas.microsoft.com/office/powerpoint/2010/main" val="4714750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E2D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159978-FC99-8D17-6758-7FD714BDA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>
            <a:extLst>
              <a:ext uri="{FF2B5EF4-FFF2-40B4-BE49-F238E27FC236}">
                <a16:creationId xmlns:a16="http://schemas.microsoft.com/office/drawing/2014/main" id="{B9A4F98D-AC3D-423D-2714-48D602FA5DA7}"/>
              </a:ext>
            </a:extLst>
          </p:cNvPr>
          <p:cNvGrpSpPr/>
          <p:nvPr/>
        </p:nvGrpSpPr>
        <p:grpSpPr>
          <a:xfrm>
            <a:off x="786232" y="1972638"/>
            <a:ext cx="5309768" cy="1727149"/>
            <a:chOff x="786232" y="1972639"/>
            <a:chExt cx="5309768" cy="1424834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14925688-D7DA-DA78-12BF-9C884AB220BA}"/>
                </a:ext>
              </a:extLst>
            </p:cNvPr>
            <p:cNvSpPr/>
            <p:nvPr/>
          </p:nvSpPr>
          <p:spPr>
            <a:xfrm>
              <a:off x="786232" y="1972639"/>
              <a:ext cx="5309768" cy="1424834"/>
            </a:xfrm>
            <a:prstGeom prst="rect">
              <a:avLst/>
            </a:prstGeom>
            <a:solidFill>
              <a:srgbClr val="BBB3AA">
                <a:alpha val="4581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09C244C6-94FF-7C14-7E85-3C2A7091799B}"/>
                </a:ext>
              </a:extLst>
            </p:cNvPr>
            <p:cNvSpPr/>
            <p:nvPr/>
          </p:nvSpPr>
          <p:spPr>
            <a:xfrm flipH="1">
              <a:off x="786232" y="1972639"/>
              <a:ext cx="158148" cy="1424834"/>
            </a:xfrm>
            <a:prstGeom prst="rect">
              <a:avLst/>
            </a:prstGeom>
            <a:solidFill>
              <a:srgbClr val="0044B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3D62829-5B1E-9E11-F801-7F36D9F63505}"/>
              </a:ext>
            </a:extLst>
          </p:cNvPr>
          <p:cNvGrpSpPr/>
          <p:nvPr/>
        </p:nvGrpSpPr>
        <p:grpSpPr>
          <a:xfrm>
            <a:off x="786232" y="3878094"/>
            <a:ext cx="10537959" cy="2462744"/>
            <a:chOff x="786232" y="1972639"/>
            <a:chExt cx="10537960" cy="1424834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5937B9B8-9089-AAEE-97BE-5F4656EF99B3}"/>
                </a:ext>
              </a:extLst>
            </p:cNvPr>
            <p:cNvSpPr/>
            <p:nvPr/>
          </p:nvSpPr>
          <p:spPr>
            <a:xfrm>
              <a:off x="786232" y="1972639"/>
              <a:ext cx="10537960" cy="1424834"/>
            </a:xfrm>
            <a:prstGeom prst="rect">
              <a:avLst/>
            </a:prstGeom>
            <a:solidFill>
              <a:srgbClr val="BBB3AA">
                <a:alpha val="4581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D7F0B688-5E95-C765-B78A-E2D84A48A35D}"/>
                </a:ext>
              </a:extLst>
            </p:cNvPr>
            <p:cNvSpPr/>
            <p:nvPr/>
          </p:nvSpPr>
          <p:spPr>
            <a:xfrm flipH="1">
              <a:off x="786232" y="1972639"/>
              <a:ext cx="158148" cy="142483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577D87A-89EB-0328-EAC8-E9F944BCD035}"/>
              </a:ext>
            </a:extLst>
          </p:cNvPr>
          <p:cNvGrpSpPr/>
          <p:nvPr/>
        </p:nvGrpSpPr>
        <p:grpSpPr>
          <a:xfrm>
            <a:off x="6288046" y="1955320"/>
            <a:ext cx="5036145" cy="1744468"/>
            <a:chOff x="786232" y="1972639"/>
            <a:chExt cx="5036145" cy="1424834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B6CB0C6-D3F6-CF24-3C16-B4EF453A728D}"/>
                </a:ext>
              </a:extLst>
            </p:cNvPr>
            <p:cNvSpPr/>
            <p:nvPr/>
          </p:nvSpPr>
          <p:spPr>
            <a:xfrm>
              <a:off x="786232" y="1972639"/>
              <a:ext cx="5036145" cy="1424834"/>
            </a:xfrm>
            <a:prstGeom prst="rect">
              <a:avLst/>
            </a:prstGeom>
            <a:solidFill>
              <a:srgbClr val="BBB3AA">
                <a:alpha val="4581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909BC014-177D-2284-7371-93679A9FE08B}"/>
                </a:ext>
              </a:extLst>
            </p:cNvPr>
            <p:cNvSpPr/>
            <p:nvPr/>
          </p:nvSpPr>
          <p:spPr>
            <a:xfrm flipH="1">
              <a:off x="786232" y="1972639"/>
              <a:ext cx="158148" cy="1424834"/>
            </a:xfrm>
            <a:prstGeom prst="rect">
              <a:avLst/>
            </a:prstGeom>
            <a:solidFill>
              <a:srgbClr val="177D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Title 1">
            <a:extLst>
              <a:ext uri="{FF2B5EF4-FFF2-40B4-BE49-F238E27FC236}">
                <a16:creationId xmlns:a16="http://schemas.microsoft.com/office/drawing/2014/main" id="{D7EDCF38-5236-2A63-6406-89E4E69221AF}"/>
              </a:ext>
            </a:extLst>
          </p:cNvPr>
          <p:cNvSpPr txBox="1">
            <a:spLocks/>
          </p:cNvSpPr>
          <p:nvPr/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177D3D"/>
                </a:solidFill>
              </a:rPr>
              <a:t>Event Overview &amp; Methodology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6AF0B7-E4D3-222B-937E-86C04856A93E}"/>
              </a:ext>
            </a:extLst>
          </p:cNvPr>
          <p:cNvSpPr txBox="1"/>
          <p:nvPr/>
        </p:nvSpPr>
        <p:spPr>
          <a:xfrm>
            <a:off x="1209404" y="2067573"/>
            <a:ext cx="503614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June 14, 2022 | 2:00–6:00 PM</a:t>
            </a:r>
            <a:br>
              <a:rPr lang="en-US" dirty="0"/>
            </a:br>
            <a:r>
              <a:rPr lang="en-US" dirty="0"/>
              <a:t>Severe Midwest heat wave</a:t>
            </a:r>
            <a:br>
              <a:rPr lang="en-US" dirty="0"/>
            </a:br>
            <a:r>
              <a:rPr lang="en-US" dirty="0"/>
              <a:t>High demand + low wind output</a:t>
            </a:r>
            <a:br>
              <a:rPr lang="en-US" dirty="0"/>
            </a:br>
            <a:r>
              <a:rPr lang="en-US" dirty="0"/>
              <a:t>Emergency DR dispatch (first in ~6 months)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CFDB30-96F6-6B5E-2D76-F2C493804B0B}"/>
              </a:ext>
            </a:extLst>
          </p:cNvPr>
          <p:cNvSpPr txBox="1"/>
          <p:nvPr/>
        </p:nvSpPr>
        <p:spPr>
          <a:xfrm>
            <a:off x="6711218" y="2000519"/>
            <a:ext cx="439649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DATA </a:t>
            </a:r>
          </a:p>
          <a:p>
            <a:r>
              <a:rPr lang="en-US" b="1" dirty="0"/>
              <a:t>5 customer sites</a:t>
            </a:r>
          </a:p>
          <a:p>
            <a:r>
              <a:rPr lang="en-US" dirty="0"/>
              <a:t>15-min interval meter data (kWh), resampled to hourly kW.</a:t>
            </a:r>
          </a:p>
          <a:p>
            <a:r>
              <a:rPr lang="en-US" dirty="0"/>
              <a:t>Time-zone normalized to EDT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A4D054A-86D8-0248-4349-468E4BAEDDEA}"/>
              </a:ext>
            </a:extLst>
          </p:cNvPr>
          <p:cNvSpPr txBox="1"/>
          <p:nvPr/>
        </p:nvSpPr>
        <p:spPr>
          <a:xfrm>
            <a:off x="1209404" y="3977852"/>
            <a:ext cx="78896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BASELINE</a:t>
            </a:r>
          </a:p>
          <a:p>
            <a:endParaRPr lang="en-US" dirty="0"/>
          </a:p>
        </p:txBody>
      </p:sp>
      <p:graphicFrame>
        <p:nvGraphicFramePr>
          <p:cNvPr id="32" name="Table 31">
            <a:extLst>
              <a:ext uri="{FF2B5EF4-FFF2-40B4-BE49-F238E27FC236}">
                <a16:creationId xmlns:a16="http://schemas.microsoft.com/office/drawing/2014/main" id="{EB70FBB7-11F6-9ED4-9A12-EE40033159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9613416"/>
              </p:ext>
            </p:extLst>
          </p:nvPr>
        </p:nvGraphicFramePr>
        <p:xfrm>
          <a:off x="1209404" y="4406694"/>
          <a:ext cx="9165654" cy="165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82827">
                  <a:extLst>
                    <a:ext uri="{9D8B030D-6E8A-4147-A177-3AD203B41FA5}">
                      <a16:colId xmlns:a16="http://schemas.microsoft.com/office/drawing/2014/main" val="94156070"/>
                    </a:ext>
                  </a:extLst>
                </a:gridCol>
                <a:gridCol w="4582827">
                  <a:extLst>
                    <a:ext uri="{9D8B030D-6E8A-4147-A177-3AD203B41FA5}">
                      <a16:colId xmlns:a16="http://schemas.microsoft.com/office/drawing/2014/main" val="30924583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10of10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Firm Service Level (FSL)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17390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Site-specific operational baseline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Fixed system benchmark per site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11067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Average load during the 10 most recent comparable weekdays (or weekends), at the same hour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Based on MISO system peak conditions, independent of recent customer operations.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95193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5154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E2D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743B60-4F8A-943B-CA0D-971229137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79470-4BE4-A0EE-0E77-E6421C2C7A4B}"/>
              </a:ext>
            </a:extLst>
          </p:cNvPr>
          <p:cNvSpPr txBox="1">
            <a:spLocks/>
          </p:cNvSpPr>
          <p:nvPr/>
        </p:nvSpPr>
        <p:spPr>
          <a:xfrm>
            <a:off x="518160" y="666351"/>
            <a:ext cx="11155680" cy="146304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4E1D1D"/>
                </a:solidFill>
              </a:rPr>
              <a:t>Portfolio Load Profiles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BE1B738-8D4A-2409-4F66-1A161DA81F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116" y="1554281"/>
            <a:ext cx="11497768" cy="479377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0F16835-43AB-EC6D-42AF-3564F5BA2C7E}"/>
              </a:ext>
            </a:extLst>
          </p:cNvPr>
          <p:cNvSpPr txBox="1"/>
          <p:nvPr/>
        </p:nvSpPr>
        <p:spPr>
          <a:xfrm>
            <a:off x="9936570" y="5883872"/>
            <a:ext cx="17372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4E1D1D"/>
                </a:solidFill>
              </a:rPr>
              <a:t>* y-axis scales differ</a:t>
            </a:r>
          </a:p>
        </p:txBody>
      </p:sp>
    </p:spTree>
    <p:extLst>
      <p:ext uri="{BB962C8B-B14F-4D97-AF65-F5344CB8AC3E}">
        <p14:creationId xmlns:p14="http://schemas.microsoft.com/office/powerpoint/2010/main" val="5484912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E2D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F1FEDA-BB52-3117-6332-70B03CEA9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716D8EA-BF2A-78BF-84D4-86C65ACC50FB}"/>
              </a:ext>
            </a:extLst>
          </p:cNvPr>
          <p:cNvSpPr txBox="1">
            <a:spLocks/>
          </p:cNvSpPr>
          <p:nvPr/>
        </p:nvSpPr>
        <p:spPr>
          <a:xfrm>
            <a:off x="521208" y="873477"/>
            <a:ext cx="11155680" cy="146304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4E1D1D"/>
                </a:solidFill>
              </a:rPr>
              <a:t>Building Type Hypothesis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E6D1D04-DBD6-FCC6-ED3B-AF962CBE3D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4268829"/>
              </p:ext>
            </p:extLst>
          </p:nvPr>
        </p:nvGraphicFramePr>
        <p:xfrm>
          <a:off x="513845" y="1873117"/>
          <a:ext cx="11156947" cy="4114800"/>
        </p:xfrm>
        <a:graphic>
          <a:graphicData uri="http://schemas.openxmlformats.org/drawingml/2006/table">
            <a:tbl>
              <a:tblPr/>
              <a:tblGrid>
                <a:gridCol w="673589">
                  <a:extLst>
                    <a:ext uri="{9D8B030D-6E8A-4147-A177-3AD203B41FA5}">
                      <a16:colId xmlns:a16="http://schemas.microsoft.com/office/drawing/2014/main" val="2224935247"/>
                    </a:ext>
                  </a:extLst>
                </a:gridCol>
                <a:gridCol w="2560109">
                  <a:extLst>
                    <a:ext uri="{9D8B030D-6E8A-4147-A177-3AD203B41FA5}">
                      <a16:colId xmlns:a16="http://schemas.microsoft.com/office/drawing/2014/main" val="3872928130"/>
                    </a:ext>
                  </a:extLst>
                </a:gridCol>
                <a:gridCol w="1933731">
                  <a:extLst>
                    <a:ext uri="{9D8B030D-6E8A-4147-A177-3AD203B41FA5}">
                      <a16:colId xmlns:a16="http://schemas.microsoft.com/office/drawing/2014/main" val="601013450"/>
                    </a:ext>
                  </a:extLst>
                </a:gridCol>
                <a:gridCol w="1615369">
                  <a:extLst>
                    <a:ext uri="{9D8B030D-6E8A-4147-A177-3AD203B41FA5}">
                      <a16:colId xmlns:a16="http://schemas.microsoft.com/office/drawing/2014/main" val="1314934011"/>
                    </a:ext>
                  </a:extLst>
                </a:gridCol>
                <a:gridCol w="4374149">
                  <a:extLst>
                    <a:ext uri="{9D8B030D-6E8A-4147-A177-3AD203B41FA5}">
                      <a16:colId xmlns:a16="http://schemas.microsoft.com/office/drawing/2014/main" val="248238627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solidFill>
                            <a:srgbClr val="E5E2DE"/>
                          </a:solidFill>
                        </a:rPr>
                        <a:t>Site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0044B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solidFill>
                            <a:srgbClr val="E5E2DE"/>
                          </a:solidFill>
                        </a:rPr>
                        <a:t>Likely Type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0044B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solidFill>
                            <a:srgbClr val="E5E2DE"/>
                          </a:solidFill>
                        </a:rPr>
                        <a:t>Daily Variability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0044B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solidFill>
                            <a:srgbClr val="E5E2DE"/>
                          </a:solidFill>
                        </a:rPr>
                        <a:t>Weekend Effect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0044B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solidFill>
                            <a:srgbClr val="E5E2DE"/>
                          </a:solidFill>
                        </a:rPr>
                        <a:t>Other Evidence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0044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51985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solidFill>
                            <a:srgbClr val="4E1D1D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dirty="0">
                          <a:solidFill>
                            <a:srgbClr val="4E1D1D"/>
                          </a:solidFill>
                        </a:rPr>
                        <a:t>Large Industrial(M-F)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solidFill>
                            <a:srgbClr val="4E1D1D"/>
                          </a:solidFill>
                        </a:rPr>
                        <a:t>Large hourly swings (5MW -&gt; 20+MW)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solidFill>
                            <a:srgbClr val="4E1D1D"/>
                          </a:solidFill>
                        </a:rPr>
                        <a:t>Moderate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dirty="0">
                          <a:solidFill>
                            <a:srgbClr val="4E1D1D"/>
                          </a:solidFill>
                        </a:rPr>
                        <a:t>Lower and more stable weekend load. Likely energy-intensive manufacturing processes that spikes up the load. 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39142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solidFill>
                            <a:srgbClr val="4E1D1D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BB3A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dirty="0">
                          <a:solidFill>
                            <a:srgbClr val="4E1D1D"/>
                          </a:solidFill>
                        </a:rPr>
                        <a:t>Mid-Sized Manufacturing (M-F)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BB3A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solidFill>
                            <a:srgbClr val="4E1D1D"/>
                          </a:solidFill>
                        </a:rPr>
                        <a:t>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BB3A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solidFill>
                            <a:srgbClr val="4E1D1D"/>
                          </a:solidFill>
                        </a:rPr>
                        <a:t>Large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BB3A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dirty="0">
                          <a:solidFill>
                            <a:srgbClr val="4E1D1D"/>
                          </a:solidFill>
                        </a:rPr>
                        <a:t>Weekday mean load ~ 5MW with low volatility; nearly shut down on weekends. 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BB3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033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solidFill>
                            <a:srgbClr val="4E1D1D"/>
                          </a:solidFill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dirty="0">
                          <a:solidFill>
                            <a:srgbClr val="4E1D1D"/>
                          </a:solidFill>
                        </a:rPr>
                        <a:t>Office/Institutional Buildings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solidFill>
                            <a:srgbClr val="4E1D1D"/>
                          </a:solidFill>
                        </a:rPr>
                        <a:t>Midday Peak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solidFill>
                            <a:srgbClr val="4E1D1D"/>
                          </a:solidFill>
                        </a:rPr>
                        <a:t>Minimal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dirty="0">
                          <a:solidFill>
                            <a:srgbClr val="4E1D1D"/>
                          </a:solidFill>
                        </a:rPr>
                        <a:t>Stable base load with low peak-base ratio (~1.6)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8863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solidFill>
                            <a:srgbClr val="4E1D1D"/>
                          </a:solidFill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BB3A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dirty="0">
                          <a:solidFill>
                            <a:srgbClr val="4E1D1D"/>
                          </a:solidFill>
                        </a:rPr>
                        <a:t>24/7 Continuous Load (e.g. mall, hospital)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BB3A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solidFill>
                            <a:srgbClr val="4E1D1D"/>
                          </a:solidFill>
                        </a:rPr>
                        <a:t>Low, slight overnight trough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BB3A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solidFill>
                            <a:srgbClr val="4E1D1D"/>
                          </a:solidFill>
                        </a:rPr>
                        <a:t>Minimal 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BB3A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dirty="0">
                          <a:solidFill>
                            <a:srgbClr val="4E1D1D"/>
                          </a:solidFill>
                        </a:rPr>
                        <a:t>Relatively stable load throughout; low peak-base ratio (~1.25)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BB3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53840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solidFill>
                            <a:srgbClr val="4E1D1D"/>
                          </a:solidFill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dirty="0">
                          <a:solidFill>
                            <a:srgbClr val="4E1D1D"/>
                          </a:solidFill>
                        </a:rPr>
                        <a:t>Mid-sized business-hour building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solidFill>
                            <a:srgbClr val="4E1D1D"/>
                          </a:solidFill>
                        </a:rPr>
                        <a:t>Daily Cycle, high usage 8am-9pm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solidFill>
                            <a:srgbClr val="4E1D1D"/>
                          </a:solidFill>
                        </a:rPr>
                        <a:t>None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dirty="0">
                          <a:solidFill>
                            <a:srgbClr val="4E1D1D"/>
                          </a:solidFill>
                        </a:rPr>
                        <a:t>Low average demand (~200kW).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34616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736650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E2D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B30114-0BB3-D266-8635-255100E7B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8F2E0-91EA-7A08-D189-A9626FC44185}"/>
              </a:ext>
            </a:extLst>
          </p:cNvPr>
          <p:cNvSpPr txBox="1">
            <a:spLocks/>
          </p:cNvSpPr>
          <p:nvPr/>
        </p:nvSpPr>
        <p:spPr>
          <a:xfrm>
            <a:off x="518160" y="905640"/>
            <a:ext cx="11155680" cy="146304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0044B2"/>
                </a:solidFill>
              </a:rPr>
              <a:t>Event Response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3E2614-C806-A67A-533B-7B038CC31F04}"/>
              </a:ext>
            </a:extLst>
          </p:cNvPr>
          <p:cNvSpPr txBox="1"/>
          <p:nvPr/>
        </p:nvSpPr>
        <p:spPr>
          <a:xfrm>
            <a:off x="5546361" y="1154242"/>
            <a:ext cx="6317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Most sites significantly curtailed load during the June 14 event</a:t>
            </a:r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A424C8F-F14D-BFF9-4CD9-9A512343A9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189" y="1772176"/>
            <a:ext cx="10861622" cy="4719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0908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E2D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2AAF1F-66D8-AAB2-F5A6-E21A03294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8A4049F-E363-E855-2482-DA191BE192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9818224"/>
              </p:ext>
            </p:extLst>
          </p:nvPr>
        </p:nvGraphicFramePr>
        <p:xfrm>
          <a:off x="933577" y="1751576"/>
          <a:ext cx="4368634" cy="2825159"/>
        </p:xfrm>
        <a:graphic>
          <a:graphicData uri="http://schemas.openxmlformats.org/drawingml/2006/table">
            <a:tbl>
              <a:tblPr/>
              <a:tblGrid>
                <a:gridCol w="775386">
                  <a:extLst>
                    <a:ext uri="{9D8B030D-6E8A-4147-A177-3AD203B41FA5}">
                      <a16:colId xmlns:a16="http://schemas.microsoft.com/office/drawing/2014/main" val="4082545052"/>
                    </a:ext>
                  </a:extLst>
                </a:gridCol>
                <a:gridCol w="1140228">
                  <a:extLst>
                    <a:ext uri="{9D8B030D-6E8A-4147-A177-3AD203B41FA5}">
                      <a16:colId xmlns:a16="http://schemas.microsoft.com/office/drawing/2014/main" val="2907389533"/>
                    </a:ext>
                  </a:extLst>
                </a:gridCol>
                <a:gridCol w="1342161">
                  <a:extLst>
                    <a:ext uri="{9D8B030D-6E8A-4147-A177-3AD203B41FA5}">
                      <a16:colId xmlns:a16="http://schemas.microsoft.com/office/drawing/2014/main" val="594507171"/>
                    </a:ext>
                  </a:extLst>
                </a:gridCol>
                <a:gridCol w="1110859">
                  <a:extLst>
                    <a:ext uri="{9D8B030D-6E8A-4147-A177-3AD203B41FA5}">
                      <a16:colId xmlns:a16="http://schemas.microsoft.com/office/drawing/2014/main" val="364751865"/>
                    </a:ext>
                  </a:extLst>
                </a:gridCol>
              </a:tblGrid>
              <a:tr h="7324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Site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7D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10of10 Avg (kW)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7D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FSL Avg (kW)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7D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Higher Baseline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7D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9462341"/>
                  </a:ext>
                </a:extLst>
              </a:tr>
              <a:tr h="4185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Site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solidFill>
                            <a:srgbClr val="0044B2"/>
                          </a:solidFill>
                        </a:rPr>
                        <a:t>3937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3337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10of10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1142138"/>
                  </a:ext>
                </a:extLst>
              </a:tr>
              <a:tr h="4185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Site 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4345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solidFill>
                            <a:srgbClr val="0044B2"/>
                          </a:solidFill>
                        </a:rPr>
                        <a:t>5075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FSL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058920"/>
                  </a:ext>
                </a:extLst>
              </a:tr>
              <a:tr h="4185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Site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649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solidFill>
                            <a:srgbClr val="0044B2"/>
                          </a:solidFill>
                        </a:rPr>
                        <a:t>850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FSL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8453980"/>
                  </a:ext>
                </a:extLst>
              </a:tr>
              <a:tr h="4185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Site 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solidFill>
                            <a:srgbClr val="0044B2"/>
                          </a:solidFill>
                        </a:rPr>
                        <a:t>3500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3235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10of10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3327600"/>
                  </a:ext>
                </a:extLst>
              </a:tr>
              <a:tr h="4185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Site 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-12</a:t>
                      </a:r>
                      <a:r>
                        <a:rPr lang="en-US" sz="1800" dirty="0">
                          <a:solidFill>
                            <a:srgbClr val="FF0000"/>
                          </a:solidFill>
                        </a:rPr>
                        <a:t>*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>
                          <a:solidFill>
                            <a:srgbClr val="0044B2"/>
                          </a:solidFill>
                        </a:rPr>
                        <a:t>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FSL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397473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E4012E5D-478B-9DF5-B7B2-DC7FF86312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7269" y="5054600"/>
            <a:ext cx="9780717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ierstadt" panose="020B0004020202020204" pitchFamily="34" charset="0"/>
              </a:rPr>
              <a:t>Performance = Baseline – Actual, averaged over event hours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ierstadt" panose="020B0004020202020204" pitchFamily="34" charset="0"/>
              </a:rPr>
              <a:t>Baseline methodology affects performance</a:t>
            </a:r>
            <a:r>
              <a:rPr lang="en-US" altLang="en-US" dirty="0">
                <a:latin typeface="Bierstadt" panose="020B0004020202020204" pitchFamily="34" charset="0"/>
              </a:rPr>
              <a:t> measured, and thus financial payout.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erstadt" panose="020B00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ierstadt" panose="020B0004020202020204" pitchFamily="34" charset="0"/>
              </a:rPr>
              <a:t>Different operational pattern benefit from different baselines: </a:t>
            </a:r>
            <a:r>
              <a:rPr lang="en-US" dirty="0"/>
              <a:t>if recent load was elevated, baseline rises, which can increase measured curtailment during the event.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483B45F-D67D-021E-A9C6-439F2DF8149B}"/>
              </a:ext>
            </a:extLst>
          </p:cNvPr>
          <p:cNvSpPr txBox="1">
            <a:spLocks/>
          </p:cNvSpPr>
          <p:nvPr/>
        </p:nvSpPr>
        <p:spPr>
          <a:xfrm>
            <a:off x="518160" y="673546"/>
            <a:ext cx="11155680" cy="146304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4E1D1D"/>
                </a:solidFill>
              </a:rPr>
              <a:t>Baseline Performance </a:t>
            </a:r>
          </a:p>
        </p:txBody>
      </p:sp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335A4EC4-31E3-86CB-90FF-DF0FA59C9E1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52453538"/>
              </p:ext>
            </p:extLst>
          </p:nvPr>
        </p:nvGraphicFramePr>
        <p:xfrm>
          <a:off x="5717628" y="1405066"/>
          <a:ext cx="5653479" cy="354724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45E316A2-0AA2-5295-ACB1-5D8A3FFB9A11}"/>
              </a:ext>
            </a:extLst>
          </p:cNvPr>
          <p:cNvSpPr txBox="1"/>
          <p:nvPr/>
        </p:nvSpPr>
        <p:spPr>
          <a:xfrm>
            <a:off x="518160" y="6357222"/>
            <a:ext cx="62472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accent3"/>
                </a:solidFill>
              </a:rPr>
              <a:t>* Negative performance indicates load above baseline. Treated as 0 for payout calculations per hour.</a:t>
            </a:r>
          </a:p>
        </p:txBody>
      </p:sp>
    </p:spTree>
    <p:extLst>
      <p:ext uri="{BB962C8B-B14F-4D97-AF65-F5344CB8AC3E}">
        <p14:creationId xmlns:p14="http://schemas.microsoft.com/office/powerpoint/2010/main" val="24212249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E2D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A7E444-1363-E0F2-E63A-D3315D271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AA0C791-2093-9F9D-AB3C-76EF55B233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6816967"/>
              </p:ext>
            </p:extLst>
          </p:nvPr>
        </p:nvGraphicFramePr>
        <p:xfrm>
          <a:off x="887433" y="2090945"/>
          <a:ext cx="6497238" cy="3024222"/>
        </p:xfrm>
        <a:graphic>
          <a:graphicData uri="http://schemas.openxmlformats.org/drawingml/2006/table">
            <a:tbl>
              <a:tblPr/>
              <a:tblGrid>
                <a:gridCol w="970590">
                  <a:extLst>
                    <a:ext uri="{9D8B030D-6E8A-4147-A177-3AD203B41FA5}">
                      <a16:colId xmlns:a16="http://schemas.microsoft.com/office/drawing/2014/main" val="1862058540"/>
                    </a:ext>
                  </a:extLst>
                </a:gridCol>
                <a:gridCol w="1741713">
                  <a:extLst>
                    <a:ext uri="{9D8B030D-6E8A-4147-A177-3AD203B41FA5}">
                      <a16:colId xmlns:a16="http://schemas.microsoft.com/office/drawing/2014/main" val="1157551"/>
                    </a:ext>
                  </a:extLst>
                </a:gridCol>
                <a:gridCol w="1861247">
                  <a:extLst>
                    <a:ext uri="{9D8B030D-6E8A-4147-A177-3AD203B41FA5}">
                      <a16:colId xmlns:a16="http://schemas.microsoft.com/office/drawing/2014/main" val="1528097750"/>
                    </a:ext>
                  </a:extLst>
                </a:gridCol>
                <a:gridCol w="1923688">
                  <a:extLst>
                    <a:ext uri="{9D8B030D-6E8A-4147-A177-3AD203B41FA5}">
                      <a16:colId xmlns:a16="http://schemas.microsoft.com/office/drawing/2014/main" val="1916590104"/>
                    </a:ext>
                  </a:extLst>
                </a:gridCol>
              </a:tblGrid>
              <a:tr h="3977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Site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Gross Revenue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Customer 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>
                          <a:solidFill>
                            <a:schemeClr val="bg1"/>
                          </a:solidFill>
                        </a:rPr>
                        <a:t>Voltus</a:t>
                      </a:r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 Profit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502340"/>
                  </a:ext>
                </a:extLst>
              </a:tr>
              <a:tr h="397357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Site 1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$24,217 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$15,499 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$8,718 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005775"/>
                  </a:ext>
                </a:extLst>
              </a:tr>
              <a:tr h="397357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Site 2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$30,770 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$19,077 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$11,693 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1920798"/>
                  </a:ext>
                </a:extLst>
              </a:tr>
              <a:tr h="397357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Site 3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$4,600 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$2,576 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$2,024 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3841086"/>
                  </a:ext>
                </a:extLst>
              </a:tr>
              <a:tr h="397357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Site 5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$23,873 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$15,518 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$8,356 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6873852"/>
                  </a:ext>
                </a:extLst>
              </a:tr>
              <a:tr h="397357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Site 6</a:t>
                      </a:r>
                      <a:r>
                        <a:rPr lang="en-US" sz="1800" b="0" i="0" u="none" strike="noStrike" dirty="0">
                          <a:solidFill>
                            <a:schemeClr val="accent3"/>
                          </a:solidFill>
                          <a:effectLst/>
                          <a:latin typeface="Bierstadt" panose="020B0004020202020204" pitchFamily="34" charset="0"/>
                        </a:rPr>
                        <a:t>*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$71 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$36 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$35 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4378783"/>
                  </a:ext>
                </a:extLst>
              </a:tr>
              <a:tr h="397357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Sum</a:t>
                      </a:r>
                    </a:p>
                  </a:txBody>
                  <a:tcPr marL="57150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BBB3AA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$83,531 </a:t>
                      </a:r>
                    </a:p>
                  </a:txBody>
                  <a:tcPr marL="57150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BBB3AA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$52,706 </a:t>
                      </a:r>
                    </a:p>
                  </a:txBody>
                  <a:tcPr marL="57150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BBB3AA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C00000"/>
                          </a:solidFill>
                          <a:effectLst/>
                          <a:latin typeface="Bierstadt" panose="020B0004020202020204" pitchFamily="34" charset="0"/>
                        </a:rPr>
                        <a:t>$30,826 </a:t>
                      </a:r>
                    </a:p>
                  </a:txBody>
                  <a:tcPr marL="57150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BBB3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797644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1AA1FA04-86DB-A8C5-4BF6-FF3244B99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7433" y="5490695"/>
            <a:ext cx="7233310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ierstadt" panose="020B0004020202020204" pitchFamily="34" charset="0"/>
              </a:rPr>
              <a:t>Computed using the 10of10 </a:t>
            </a:r>
            <a:r>
              <a:rPr lang="en-US" altLang="en-US" dirty="0">
                <a:latin typeface="Bierstadt" panose="020B0004020202020204" pitchFamily="34" charset="0"/>
              </a:rPr>
              <a:t>baseline and performance. 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Total portfolio profit: $30.8K across 5 sites.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Sites 1, 2, and 5 drive ~95% of total profit.</a:t>
            </a:r>
            <a:endParaRPr lang="en-US" altLang="en-US" dirty="0">
              <a:latin typeface="Bierstadt" panose="020B0004020202020204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F35FE4B-E0F9-AE6F-4628-5AB4783462A7}"/>
              </a:ext>
            </a:extLst>
          </p:cNvPr>
          <p:cNvSpPr txBox="1">
            <a:spLocks/>
          </p:cNvSpPr>
          <p:nvPr/>
        </p:nvSpPr>
        <p:spPr>
          <a:xfrm>
            <a:off x="518160" y="905640"/>
            <a:ext cx="11155680" cy="146304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4E1D1D"/>
                </a:solidFill>
              </a:rPr>
              <a:t>Financial Results</a:t>
            </a:r>
          </a:p>
        </p:txBody>
      </p:sp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E8B05BB8-B6CD-9D76-8D4A-3FB1777293F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75306437"/>
              </p:ext>
            </p:extLst>
          </p:nvPr>
        </p:nvGraphicFramePr>
        <p:xfrm>
          <a:off x="7556970" y="1922607"/>
          <a:ext cx="3944570" cy="336089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418396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E2D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7D545E-6EF5-A5EB-269B-C0AF97E60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92DF9EDF-FBD0-560B-1111-E4FD2723B12A}"/>
              </a:ext>
            </a:extLst>
          </p:cNvPr>
          <p:cNvSpPr txBox="1">
            <a:spLocks/>
          </p:cNvSpPr>
          <p:nvPr/>
        </p:nvSpPr>
        <p:spPr>
          <a:xfrm>
            <a:off x="518159" y="701889"/>
            <a:ext cx="11155680" cy="146304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4E1D1D"/>
                </a:solidFill>
              </a:rPr>
              <a:t>Site 2 Deep Dive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80D7304-3053-1B25-793B-5AB5CB4417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59" y="1791140"/>
            <a:ext cx="11330331" cy="4472499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BF586E26-D435-37DB-6681-719FEE4B6EBF}"/>
              </a:ext>
            </a:extLst>
          </p:cNvPr>
          <p:cNvSpPr txBox="1"/>
          <p:nvPr/>
        </p:nvSpPr>
        <p:spPr>
          <a:xfrm>
            <a:off x="7305253" y="4027389"/>
            <a:ext cx="3390821" cy="1323439"/>
          </a:xfrm>
          <a:prstGeom prst="rect">
            <a:avLst/>
          </a:prstGeom>
          <a:solidFill>
            <a:srgbClr val="E5E2DE"/>
          </a:solidFill>
        </p:spPr>
        <p:txBody>
          <a:bodyPr wrap="square">
            <a:spAutoFit/>
          </a:bodyPr>
          <a:lstStyle/>
          <a:p>
            <a:r>
              <a:rPr lang="en-US" sz="1600" b="0" i="0" dirty="0">
                <a:effectLst/>
                <a:latin typeface="Bierstadt" panose="020B0004020202020204" pitchFamily="34" charset="0"/>
              </a:rPr>
              <a:t>Site 2 was the strongest performer. Event load dropped to ~320 kW against a ~4,700 kW baseline, meaning it curtailed over 90% of its normal usage. </a:t>
            </a:r>
            <a:endParaRPr lang="en-US" sz="1600" dirty="0">
              <a:latin typeface="Bierstadt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30557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E2D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9E95CB-7B85-E27D-5D21-2FD6F393F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EB2C234-0C80-B8AF-9235-D125F24C9D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0269217"/>
              </p:ext>
            </p:extLst>
          </p:nvPr>
        </p:nvGraphicFramePr>
        <p:xfrm>
          <a:off x="1307888" y="4235871"/>
          <a:ext cx="9817311" cy="203767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768272">
                  <a:extLst>
                    <a:ext uri="{9D8B030D-6E8A-4147-A177-3AD203B41FA5}">
                      <a16:colId xmlns:a16="http://schemas.microsoft.com/office/drawing/2014/main" val="2826846304"/>
                    </a:ext>
                  </a:extLst>
                </a:gridCol>
                <a:gridCol w="1035970">
                  <a:extLst>
                    <a:ext uri="{9D8B030D-6E8A-4147-A177-3AD203B41FA5}">
                      <a16:colId xmlns:a16="http://schemas.microsoft.com/office/drawing/2014/main" val="307441199"/>
                    </a:ext>
                  </a:extLst>
                </a:gridCol>
                <a:gridCol w="1523484">
                  <a:extLst>
                    <a:ext uri="{9D8B030D-6E8A-4147-A177-3AD203B41FA5}">
                      <a16:colId xmlns:a16="http://schemas.microsoft.com/office/drawing/2014/main" val="2479157609"/>
                    </a:ext>
                  </a:extLst>
                </a:gridCol>
                <a:gridCol w="1584424">
                  <a:extLst>
                    <a:ext uri="{9D8B030D-6E8A-4147-A177-3AD203B41FA5}">
                      <a16:colId xmlns:a16="http://schemas.microsoft.com/office/drawing/2014/main" val="488395521"/>
                    </a:ext>
                  </a:extLst>
                </a:gridCol>
                <a:gridCol w="1218789">
                  <a:extLst>
                    <a:ext uri="{9D8B030D-6E8A-4147-A177-3AD203B41FA5}">
                      <a16:colId xmlns:a16="http://schemas.microsoft.com/office/drawing/2014/main" val="2814962895"/>
                    </a:ext>
                  </a:extLst>
                </a:gridCol>
                <a:gridCol w="1263056">
                  <a:extLst>
                    <a:ext uri="{9D8B030D-6E8A-4147-A177-3AD203B41FA5}">
                      <a16:colId xmlns:a16="http://schemas.microsoft.com/office/drawing/2014/main" val="4169720327"/>
                    </a:ext>
                  </a:extLst>
                </a:gridCol>
                <a:gridCol w="1246275">
                  <a:extLst>
                    <a:ext uri="{9D8B030D-6E8A-4147-A177-3AD203B41FA5}">
                      <a16:colId xmlns:a16="http://schemas.microsoft.com/office/drawing/2014/main" val="1344721592"/>
                    </a:ext>
                  </a:extLst>
                </a:gridCol>
                <a:gridCol w="1177041">
                  <a:extLst>
                    <a:ext uri="{9D8B030D-6E8A-4147-A177-3AD203B41FA5}">
                      <a16:colId xmlns:a16="http://schemas.microsoft.com/office/drawing/2014/main" val="3017308708"/>
                    </a:ext>
                  </a:extLst>
                </a:gridCol>
              </a:tblGrid>
              <a:tr h="5732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</a:rPr>
                        <a:t>Hour</a:t>
                      </a:r>
                    </a:p>
                  </a:txBody>
                  <a:tcPr marL="57150" marR="9525" marT="9525" marB="0" anchor="ctr"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7D3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Bierstadt" panose="020B0004020202020204" pitchFamily="34" charset="0"/>
                        </a:rPr>
                        <a:t>Load (kW)</a:t>
                      </a:r>
                    </a:p>
                  </a:txBody>
                  <a:tcPr marL="57150" marR="9525" marT="9525" marB="0" anchor="ctr"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7D3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Bierstadt" panose="020B0004020202020204" pitchFamily="34" charset="0"/>
                        </a:rPr>
                        <a:t>10of10 Baseline (kW)</a:t>
                      </a:r>
                    </a:p>
                  </a:txBody>
                  <a:tcPr marL="57150" marR="9525" marT="9525" marB="0" anchor="ctr"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7D3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Bierstadt" panose="020B0004020202020204" pitchFamily="34" charset="0"/>
                        </a:rPr>
                        <a:t>10of10 Performance (kW)</a:t>
                      </a:r>
                    </a:p>
                  </a:txBody>
                  <a:tcPr marL="9525" marR="9525" marT="9525" marB="0" anchor="ctr"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7D3D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Bierstadt" panose="020B0004020202020204" pitchFamily="34" charset="0"/>
                        </a:rPr>
                        <a:t>LMP ($/MWh)</a:t>
                      </a:r>
                    </a:p>
                  </a:txBody>
                  <a:tcPr marL="9525" marR="9525" marT="9525" marB="0" anchor="ctr"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7D3D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Bierstadt" panose="020B0004020202020204" pitchFamily="34" charset="0"/>
                        </a:rPr>
                        <a:t>Gross Rev</a:t>
                      </a:r>
                    </a:p>
                  </a:txBody>
                  <a:tcPr marL="9525" marR="9525" marT="9525" marB="0" anchor="ctr"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7D3D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Bierstadt" panose="020B0004020202020204" pitchFamily="34" charset="0"/>
                        </a:rPr>
                        <a:t>COGS</a:t>
                      </a:r>
                    </a:p>
                  </a:txBody>
                  <a:tcPr marL="9525" marR="9525" marT="9525" marB="0" anchor="ctr"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7D3D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Bierstadt" panose="020B0004020202020204" pitchFamily="34" charset="0"/>
                        </a:rPr>
                        <a:t>Profit</a:t>
                      </a:r>
                    </a:p>
                  </a:txBody>
                  <a:tcPr marL="9525" marR="9525" marT="9525" marB="0" anchor="ctr"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7D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6640754"/>
                  </a:ext>
                </a:extLst>
              </a:tr>
              <a:tr h="292884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14:00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328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4,744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4,417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1,500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$6,625 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$4,108 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$2,518 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6325261"/>
                  </a:ext>
                </a:extLst>
              </a:tr>
              <a:tr h="292884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15:00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320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4,676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4,356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1,800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$7,841 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$4,861 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$2,980 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751993"/>
                  </a:ext>
                </a:extLst>
              </a:tr>
              <a:tr h="292884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16:00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331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4,652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4,320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3,000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$12,961 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$8,036 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$4,925 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41017697"/>
                  </a:ext>
                </a:extLst>
              </a:tr>
              <a:tr h="292884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17:00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320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4,606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4,286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780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$3,343 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$2,073 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$1,270 </a:t>
                      </a:r>
                    </a:p>
                  </a:txBody>
                  <a:tcPr marL="57150" marR="9525" marT="9525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3323023"/>
                  </a:ext>
                </a:extLst>
              </a:tr>
              <a:tr h="292884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Total</a:t>
                      </a:r>
                    </a:p>
                  </a:txBody>
                  <a:tcPr marL="57150" marR="9525" marT="9525" marB="0" anchor="ctr"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BBB3A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150" marR="9525" marT="9525" marB="0" anchor="ctr"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BBB3A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150" marR="9525" marT="9525" marB="0" anchor="ctr"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BBB3A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150" marR="9525" marT="9525" marB="0" anchor="ctr"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BBB3A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150" marR="9525" marT="9525" marB="0" anchor="ctr"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BBB3AA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$30,770 </a:t>
                      </a:r>
                    </a:p>
                  </a:txBody>
                  <a:tcPr marL="57150" marR="9525" marT="9525" marB="0" anchor="ctr"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BBB3AA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$19,078 </a:t>
                      </a:r>
                    </a:p>
                  </a:txBody>
                  <a:tcPr marL="57150" marR="9525" marT="9525" marB="0" anchor="ctr"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BBB3AA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Bierstadt" panose="020B0004020202020204" pitchFamily="34" charset="0"/>
                        </a:rPr>
                        <a:t>$11,693 </a:t>
                      </a:r>
                    </a:p>
                  </a:txBody>
                  <a:tcPr marL="57150" marR="9525" marT="9525" marB="0" anchor="ctr"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BBB3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3217073"/>
                  </a:ext>
                </a:extLst>
              </a:tr>
            </a:tbl>
          </a:graphicData>
        </a:graphic>
      </p:graphicFrame>
      <p:graphicFrame>
        <p:nvGraphicFramePr>
          <p:cNvPr id="25" name="Chart 24">
            <a:extLst>
              <a:ext uri="{FF2B5EF4-FFF2-40B4-BE49-F238E27FC236}">
                <a16:creationId xmlns:a16="http://schemas.microsoft.com/office/drawing/2014/main" id="{FD6BAA81-DE0A-D709-034B-895BFC91F9F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50766090"/>
              </p:ext>
            </p:extLst>
          </p:nvPr>
        </p:nvGraphicFramePr>
        <p:xfrm>
          <a:off x="1112521" y="701040"/>
          <a:ext cx="6537959" cy="326135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8D4C437-2252-DB82-D434-F1E55D44EDA0}"/>
              </a:ext>
            </a:extLst>
          </p:cNvPr>
          <p:cNvSpPr txBox="1"/>
          <p:nvPr/>
        </p:nvSpPr>
        <p:spPr>
          <a:xfrm>
            <a:off x="8225312" y="2228671"/>
            <a:ext cx="303704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effectLst/>
                <a:latin typeface="Bierstadt" panose="020B0004020202020204" pitchFamily="34" charset="0"/>
              </a:rPr>
              <a:t>The 16:00 hour alone generated nearly $13K in gross revenue due to the $3,000/MWh LMP spike.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91658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E2D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F9A98A-7125-99BF-80CC-C47E94462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1CD1DF8E-EB99-34ED-6356-7099AD39FE3E}"/>
              </a:ext>
            </a:extLst>
          </p:cNvPr>
          <p:cNvSpPr/>
          <p:nvPr/>
        </p:nvSpPr>
        <p:spPr>
          <a:xfrm>
            <a:off x="849787" y="3242732"/>
            <a:ext cx="9987545" cy="1361635"/>
          </a:xfrm>
          <a:prstGeom prst="rect">
            <a:avLst/>
          </a:prstGeom>
          <a:solidFill>
            <a:srgbClr val="BBB3AA">
              <a:alpha val="6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7530C86-3F73-B564-E438-B4286D726496}"/>
              </a:ext>
            </a:extLst>
          </p:cNvPr>
          <p:cNvSpPr/>
          <p:nvPr/>
        </p:nvSpPr>
        <p:spPr>
          <a:xfrm>
            <a:off x="849787" y="4723889"/>
            <a:ext cx="9981115" cy="1463040"/>
          </a:xfrm>
          <a:prstGeom prst="rect">
            <a:avLst/>
          </a:prstGeom>
          <a:solidFill>
            <a:srgbClr val="BBB3AA">
              <a:alpha val="6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B0C57-CD4F-8293-E3AC-1EB654BAB9CF}"/>
              </a:ext>
            </a:extLst>
          </p:cNvPr>
          <p:cNvSpPr/>
          <p:nvPr/>
        </p:nvSpPr>
        <p:spPr>
          <a:xfrm>
            <a:off x="849787" y="1601984"/>
            <a:ext cx="9987545" cy="1538899"/>
          </a:xfrm>
          <a:prstGeom prst="rect">
            <a:avLst/>
          </a:prstGeom>
          <a:solidFill>
            <a:srgbClr val="BBB3AA">
              <a:alpha val="6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6931998-3335-D2D8-7651-66BE9BF76711}"/>
              </a:ext>
            </a:extLst>
          </p:cNvPr>
          <p:cNvSpPr txBox="1"/>
          <p:nvPr/>
        </p:nvSpPr>
        <p:spPr>
          <a:xfrm>
            <a:off x="1186255" y="1673301"/>
            <a:ext cx="642890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Q: If given 500 CSVs?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Modular code with reusable functions.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Runtime scale almost linearly with number of sites.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Primary incremental effort: QA / validation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Optionally, parallelize computations for each site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CEE257E-CC47-9766-E6C2-C0A65F845CEF}"/>
              </a:ext>
            </a:extLst>
          </p:cNvPr>
          <p:cNvSpPr txBox="1">
            <a:spLocks/>
          </p:cNvSpPr>
          <p:nvPr/>
        </p:nvSpPr>
        <p:spPr>
          <a:xfrm>
            <a:off x="535094" y="719373"/>
            <a:ext cx="11155680" cy="146304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177D3D"/>
                </a:solidFill>
              </a:rPr>
              <a:t>Scalability &amp; Discussion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F3926E-CC26-F631-F011-45DD0E9E4F67}"/>
              </a:ext>
            </a:extLst>
          </p:cNvPr>
          <p:cNvSpPr txBox="1"/>
          <p:nvPr/>
        </p:nvSpPr>
        <p:spPr>
          <a:xfrm>
            <a:off x="1192686" y="3331329"/>
            <a:ext cx="964464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Strength of the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Scalable for larger dataset; clear separation of logic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Parameter-driven config (no hard-coded values)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Clearly documented assumptions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FABCDF-D391-B566-9BE2-376901D47253}"/>
              </a:ext>
            </a:extLst>
          </p:cNvPr>
          <p:cNvSpPr txBox="1"/>
          <p:nvPr/>
        </p:nvSpPr>
        <p:spPr>
          <a:xfrm>
            <a:off x="1186255" y="4808657"/>
            <a:ext cx="96446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Future improvement: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Integrate holiday calendar and exclude them in weekday baseline calculations.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Enhance ways to detect missing values/outliers/duplicates.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Better handle edge cases: multi-day dispatch event, discontinuous event windows, etc. </a:t>
            </a:r>
          </a:p>
        </p:txBody>
      </p:sp>
    </p:spTree>
    <p:extLst>
      <p:ext uri="{BB962C8B-B14F-4D97-AF65-F5344CB8AC3E}">
        <p14:creationId xmlns:p14="http://schemas.microsoft.com/office/powerpoint/2010/main" val="2283069337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1207</TotalTime>
  <Words>769</Words>
  <Application>Microsoft Macintosh PowerPoint</Application>
  <PresentationFormat>Widescreen</PresentationFormat>
  <Paragraphs>194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Bierstadt</vt:lpstr>
      <vt:lpstr>GestaltVTI</vt:lpstr>
      <vt:lpstr>Demand Response Event Analysis: 6/14/22 Heat Wave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Ruiyan Huang</dc:creator>
  <cp:lastModifiedBy>Ruiyan Huang</cp:lastModifiedBy>
  <cp:revision>3</cp:revision>
  <dcterms:created xsi:type="dcterms:W3CDTF">2026-03-03T02:13:37Z</dcterms:created>
  <dcterms:modified xsi:type="dcterms:W3CDTF">2026-03-04T21:00:46Z</dcterms:modified>
</cp:coreProperties>
</file>