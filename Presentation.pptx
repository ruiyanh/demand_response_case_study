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2"/>
  </p:notesMasterIdLst>
  <p:sldIdLst>
    <p:sldId id="258" r:id="rId2"/>
    <p:sldId id="263" r:id="rId3"/>
    <p:sldId id="264" r:id="rId4"/>
    <p:sldId id="265" r:id="rId5"/>
    <p:sldId id="273" r:id="rId6"/>
    <p:sldId id="267" r:id="rId7"/>
    <p:sldId id="268" r:id="rId8"/>
    <p:sldId id="266" r:id="rId9"/>
    <p:sldId id="274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3AA"/>
    <a:srgbClr val="0044B2"/>
    <a:srgbClr val="177D3D"/>
    <a:srgbClr val="02B944"/>
    <a:srgbClr val="E96F76"/>
    <a:srgbClr val="E5E2DE"/>
    <a:srgbClr val="4E1D1D"/>
    <a:srgbClr val="F2E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1"/>
  </p:normalViewPr>
  <p:slideViewPr>
    <p:cSldViewPr snapToGrid="0">
      <p:cViewPr>
        <p:scale>
          <a:sx n="64" d="100"/>
          <a:sy n="64" d="100"/>
        </p:scale>
        <p:origin x="1088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est/Downloads/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est/Downloads/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est/Downloads/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Cross-Site Comparison: Average Curtailment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Sheet1!$B$18</c:f>
              <c:strCache>
                <c:ptCount val="1"/>
                <c:pt idx="0">
                  <c:v>10of10 Avg (kW)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96F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2A-7A40-8CC4-E3FBE383E458}"/>
              </c:ext>
            </c:extLst>
          </c:dPt>
          <c:dLbls>
            <c:dLbl>
              <c:idx val="4"/>
              <c:layout>
                <c:manualLayout>
                  <c:x val="-4.4928087643024764E-3"/>
                  <c:y val="7.87654405212389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E2A-7A40-8CC4-E3FBE383E4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Sheet1!$A$19:$A$23</c:f>
              <c:strCache>
                <c:ptCount val="5"/>
                <c:pt idx="0">
                  <c:v>Site 1</c:v>
                </c:pt>
                <c:pt idx="1">
                  <c:v>Site 2</c:v>
                </c:pt>
                <c:pt idx="2">
                  <c:v>Site 3</c:v>
                </c:pt>
                <c:pt idx="3">
                  <c:v>Site 5</c:v>
                </c:pt>
                <c:pt idx="4">
                  <c:v>Site 6</c:v>
                </c:pt>
              </c:strCache>
            </c:strRef>
          </c:cat>
          <c:val>
            <c:numRef>
              <c:f>Sheet1!$B$19:$B$23</c:f>
              <c:numCache>
                <c:formatCode>General</c:formatCode>
                <c:ptCount val="5"/>
                <c:pt idx="0">
                  <c:v>3937</c:v>
                </c:pt>
                <c:pt idx="1">
                  <c:v>4345</c:v>
                </c:pt>
                <c:pt idx="2">
                  <c:v>649</c:v>
                </c:pt>
                <c:pt idx="3">
                  <c:v>3500</c:v>
                </c:pt>
                <c:pt idx="4">
                  <c:v>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A-7A40-8CC4-E3FBE383E4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6"/>
        <c:overlap val="-27"/>
        <c:axId val="2026515840"/>
        <c:axId val="2027540864"/>
      </c:barChart>
      <c:catAx>
        <c:axId val="202651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7540864"/>
        <c:crosses val="autoZero"/>
        <c:auto val="1"/>
        <c:lblAlgn val="ctr"/>
        <c:lblOffset val="100"/>
        <c:noMultiLvlLbl val="0"/>
      </c:catAx>
      <c:valAx>
        <c:axId val="2027540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10of10 Performance (kW)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515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Sheet1!$D$1</c:f>
              <c:strCache>
                <c:ptCount val="1"/>
                <c:pt idx="0">
                  <c:v>Voltus Profit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92-8D46-9EFC-25ECC269E8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92-8D46-9EFC-25ECC269E8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092-8D46-9EFC-25ECC269E8AE}"/>
              </c:ext>
            </c:extLst>
          </c:dPt>
          <c:dPt>
            <c:idx val="3"/>
            <c:bubble3D val="0"/>
            <c:spPr>
              <a:solidFill>
                <a:srgbClr val="177D3D"/>
              </a:solidFill>
              <a:ln w="19050">
                <a:solidFill>
                  <a:schemeClr val="lt1"/>
                </a:solidFill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7-6092-8D46-9EFC-25ECC269E8A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092-8D46-9EFC-25ECC269E8AE}"/>
              </c:ext>
            </c:extLst>
          </c:dPt>
          <c:dLbls>
            <c:dLbl>
              <c:idx val="0"/>
              <c:layout>
                <c:manualLayout>
                  <c:x val="-0.15042298653592165"/>
                  <c:y val="0.1707038329350765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92-8D46-9EFC-25ECC269E8AE}"/>
                </c:ext>
              </c:extLst>
            </c:dLbl>
            <c:dLbl>
              <c:idx val="1"/>
              <c:layout>
                <c:manualLayout>
                  <c:x val="-7.0524543866631789E-2"/>
                  <c:y val="-0.1732626736255231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92-8D46-9EFC-25ECC269E8AE}"/>
                </c:ext>
              </c:extLst>
            </c:dLbl>
            <c:dLbl>
              <c:idx val="2"/>
              <c:layout>
                <c:manualLayout>
                  <c:x val="0.15863249986690564"/>
                  <c:y val="-5.815709318077882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92-8D46-9EFC-25ECC269E8AE}"/>
                </c:ext>
              </c:extLst>
            </c:dLbl>
            <c:dLbl>
              <c:idx val="3"/>
              <c:layout>
                <c:manualLayout>
                  <c:x val="0.14722694742392706"/>
                  <c:y val="0.1540859478883167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092-8D46-9EFC-25ECC269E8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Site 1</c:v>
                </c:pt>
                <c:pt idx="1">
                  <c:v>Site 2</c:v>
                </c:pt>
                <c:pt idx="2">
                  <c:v>Site 3</c:v>
                </c:pt>
                <c:pt idx="3">
                  <c:v>Site 5</c:v>
                </c:pt>
                <c:pt idx="4">
                  <c:v>Site 6</c:v>
                </c:pt>
              </c:strCache>
            </c:strRef>
          </c:cat>
          <c:val>
            <c:numRef>
              <c:f>Sheet1!$D$2:$D$6</c:f>
              <c:numCache>
                <c:formatCode>"$"#,##0_);[Red]\("$"#,##0\)</c:formatCode>
                <c:ptCount val="5"/>
                <c:pt idx="0">
                  <c:v>8718</c:v>
                </c:pt>
                <c:pt idx="1">
                  <c:v>11693</c:v>
                </c:pt>
                <c:pt idx="2">
                  <c:v>2024</c:v>
                </c:pt>
                <c:pt idx="3">
                  <c:v>8356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092-8D46-9EFC-25ECC269E8A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Site 2: Gross Revenue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Sheet1!$F$10</c:f>
              <c:strCache>
                <c:ptCount val="1"/>
                <c:pt idx="0">
                  <c:v>Gross Rev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09-9B47-9FD5-37DAD718164C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809-9B47-9FD5-37DAD718164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809-9B47-9FD5-37DAD718164C}"/>
              </c:ext>
            </c:extLst>
          </c:dPt>
          <c:dPt>
            <c:idx val="3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809-9B47-9FD5-37DAD718164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$6,625</a:t>
                    </a:r>
                  </a:p>
                  <a:p>
                    <a:r>
                      <a:rPr lang="en-US"/>
                      <a:t>($1500/MWh)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809-9B47-9FD5-37DAD71816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0" i="0" u="none" strike="noStrike" kern="1200" baseline="0">
                        <a:solidFill>
                          <a:sysClr val="windowText" lastClr="000000">
                            <a:lumMod val="75000"/>
                            <a:lumOff val="25000"/>
                          </a:sysClr>
                        </a:solidFill>
                      </a:rPr>
                      <a:t>$7.841</a:t>
                    </a:r>
                  </a:p>
                  <a:p>
                    <a:r>
                      <a:rPr lang="en-US" sz="900" b="0" i="0" u="none" strike="noStrike" kern="1200" baseline="0">
                        <a:solidFill>
                          <a:sysClr val="windowText" lastClr="000000">
                            <a:lumMod val="75000"/>
                            <a:lumOff val="25000"/>
                          </a:sysClr>
                        </a:solidFill>
                      </a:rPr>
                      <a:t>($1800/MWh)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09-9B47-9FD5-37DAD718164C}"/>
                </c:ext>
              </c:extLst>
            </c:dLbl>
            <c:dLbl>
              <c:idx val="2"/>
              <c:layout>
                <c:manualLayout>
                  <c:x val="-1.0178929444946239E-16"/>
                  <c:y val="3.7310199051380846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kern="1200" baseline="0">
                        <a:solidFill>
                          <a:sysClr val="windowText" lastClr="000000">
                            <a:lumMod val="75000"/>
                            <a:lumOff val="25000"/>
                          </a:sysClr>
                        </a:solidFill>
                      </a:rPr>
                      <a:t>$12,961</a:t>
                    </a:r>
                  </a:p>
                  <a:p>
                    <a:r>
                      <a:rPr lang="en-US" sz="900" b="0" i="0" u="none" strike="noStrike" kern="1200" baseline="0">
                        <a:solidFill>
                          <a:sysClr val="windowText" lastClr="000000">
                            <a:lumMod val="75000"/>
                            <a:lumOff val="25000"/>
                          </a:sysClr>
                        </a:solidFill>
                      </a:rPr>
                      <a:t>($3000/MWh)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809-9B47-9FD5-37DAD718164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0" i="0" u="none" strike="noStrike" kern="1200" baseline="0">
                        <a:solidFill>
                          <a:sysClr val="windowText" lastClr="000000">
                            <a:lumMod val="75000"/>
                            <a:lumOff val="25000"/>
                          </a:sysClr>
                        </a:solidFill>
                      </a:rPr>
                      <a:t>$3,343</a:t>
                    </a:r>
                  </a:p>
                  <a:p>
                    <a:r>
                      <a:rPr lang="en-US" sz="900" b="0" i="0" u="none" strike="noStrike" kern="1200" baseline="0">
                        <a:solidFill>
                          <a:sysClr val="windowText" lastClr="000000">
                            <a:lumMod val="75000"/>
                            <a:lumOff val="25000"/>
                          </a:sysClr>
                        </a:solidFill>
                      </a:rPr>
                      <a:t>($780/MWh)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809-9B47-9FD5-37DAD71816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Sheet1!$A$11:$A$14</c:f>
              <c:numCache>
                <c:formatCode>h:mm</c:formatCode>
                <c:ptCount val="4"/>
                <c:pt idx="0">
                  <c:v>0.58333333333333337</c:v>
                </c:pt>
                <c:pt idx="1">
                  <c:v>0.625</c:v>
                </c:pt>
                <c:pt idx="2">
                  <c:v>0.66666666666666663</c:v>
                </c:pt>
                <c:pt idx="3">
                  <c:v>0.70833333333333337</c:v>
                </c:pt>
              </c:numCache>
            </c:numRef>
          </c:cat>
          <c:val>
            <c:numRef>
              <c:f>Sheet1!$F$11:$F$14</c:f>
              <c:numCache>
                <c:formatCode>"$"#,##0_);[Red]\("$"#,##0\)</c:formatCode>
                <c:ptCount val="4"/>
                <c:pt idx="0">
                  <c:v>6625</c:v>
                </c:pt>
                <c:pt idx="1">
                  <c:v>7841</c:v>
                </c:pt>
                <c:pt idx="2">
                  <c:v>12961</c:v>
                </c:pt>
                <c:pt idx="3">
                  <c:v>3343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09-9B47-9FD5-37DAD71816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27"/>
        <c:axId val="2026547264"/>
        <c:axId val="2026549056"/>
      </c:barChart>
      <c:catAx>
        <c:axId val="20265472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 (EDT)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549056"/>
        <c:crosses val="autoZero"/>
        <c:auto val="1"/>
        <c:lblAlgn val="ctr"/>
        <c:lblOffset val="100"/>
        <c:noMultiLvlLbl val="0"/>
      </c:catAx>
      <c:valAx>
        <c:axId val="2026549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Gross Revenue (USD)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547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5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D7D89-F6F2-EB46-942D-37A2D9DCF75A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9FEAE-CFCD-DF44-B4BF-0C6F19F88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9FEAE-CFCD-DF44-B4BF-0C6F19F883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7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7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4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2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6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84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7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2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3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4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5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0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B9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F5FFC-FB3F-8DC0-855F-72BBAAB69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35874-2B14-286F-342B-207A77F33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A digital illustration of a power grid, showcasing the complex network of  power lines and towers">
            <a:extLst>
              <a:ext uri="{FF2B5EF4-FFF2-40B4-BE49-F238E27FC236}">
                <a16:creationId xmlns:a16="http://schemas.microsoft.com/office/drawing/2014/main" id="{4F3E0422-F4F2-69FF-30BB-BD61F7864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1" t="-847" r="19047" b="847"/>
          <a:stretch>
            <a:fillRect/>
          </a:stretch>
        </p:blipFill>
        <p:spPr bwMode="auto">
          <a:xfrm>
            <a:off x="6415314" y="-54883"/>
            <a:ext cx="5924343" cy="696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0575B-4F7E-424C-6717-99974B900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dirty="0">
                <a:solidFill>
                  <a:srgbClr val="FFFFFF"/>
                </a:solidFill>
              </a:rPr>
              <a:t>Demand Response Event Analysis: 6/14/22 Heat Wave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64CAA-CC03-F829-34EF-E7311DE14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268514"/>
            <a:ext cx="5040785" cy="10582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Customer Performance, Baseline Comparison, and Financial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FBF61-908B-4EE8-11B5-D6756AF11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DCE3990-F008-9196-C9CA-B4AE74ABBACA}"/>
              </a:ext>
            </a:extLst>
          </p:cNvPr>
          <p:cNvSpPr txBox="1">
            <a:spLocks/>
          </p:cNvSpPr>
          <p:nvPr/>
        </p:nvSpPr>
        <p:spPr>
          <a:xfrm>
            <a:off x="517870" y="5706301"/>
            <a:ext cx="3212301" cy="7721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i="0" dirty="0">
                <a:solidFill>
                  <a:srgbClr val="FFFFFF"/>
                </a:solidFill>
              </a:rPr>
              <a:t>Ruiyan Huang</a:t>
            </a:r>
          </a:p>
          <a:p>
            <a:pPr>
              <a:lnSpc>
                <a:spcPct val="100000"/>
              </a:lnSpc>
            </a:pPr>
            <a:r>
              <a:rPr lang="en-US" sz="1800" i="0" dirty="0">
                <a:solidFill>
                  <a:srgbClr val="FFFFFF"/>
                </a:solidFill>
              </a:rPr>
              <a:t>Mar 2, 2026</a:t>
            </a:r>
          </a:p>
        </p:txBody>
      </p:sp>
    </p:spTree>
    <p:extLst>
      <p:ext uri="{BB962C8B-B14F-4D97-AF65-F5344CB8AC3E}">
        <p14:creationId xmlns:p14="http://schemas.microsoft.com/office/powerpoint/2010/main" val="471475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59978-FC99-8D17-6758-7FD714BD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9A4F98D-AC3D-423D-2714-48D602FA5DA7}"/>
              </a:ext>
            </a:extLst>
          </p:cNvPr>
          <p:cNvGrpSpPr/>
          <p:nvPr/>
        </p:nvGrpSpPr>
        <p:grpSpPr>
          <a:xfrm>
            <a:off x="786232" y="1972639"/>
            <a:ext cx="5309768" cy="1424834"/>
            <a:chOff x="786232" y="1972639"/>
            <a:chExt cx="5309768" cy="14248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925688-D7DA-DA78-12BF-9C884AB220BA}"/>
                </a:ext>
              </a:extLst>
            </p:cNvPr>
            <p:cNvSpPr/>
            <p:nvPr/>
          </p:nvSpPr>
          <p:spPr>
            <a:xfrm>
              <a:off x="786232" y="1972639"/>
              <a:ext cx="5309768" cy="1424834"/>
            </a:xfrm>
            <a:prstGeom prst="rect">
              <a:avLst/>
            </a:prstGeom>
            <a:solidFill>
              <a:srgbClr val="BBB3AA">
                <a:alpha val="4581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C244C6-94FF-7C14-7E85-3C2A7091799B}"/>
                </a:ext>
              </a:extLst>
            </p:cNvPr>
            <p:cNvSpPr/>
            <p:nvPr/>
          </p:nvSpPr>
          <p:spPr>
            <a:xfrm flipH="1">
              <a:off x="786232" y="1972639"/>
              <a:ext cx="158148" cy="1424834"/>
            </a:xfrm>
            <a:prstGeom prst="rect">
              <a:avLst/>
            </a:prstGeom>
            <a:solidFill>
              <a:srgbClr val="0044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D62829-5B1E-9E11-F801-7F36D9F63505}"/>
              </a:ext>
            </a:extLst>
          </p:cNvPr>
          <p:cNvGrpSpPr/>
          <p:nvPr/>
        </p:nvGrpSpPr>
        <p:grpSpPr>
          <a:xfrm>
            <a:off x="786232" y="3717561"/>
            <a:ext cx="10537959" cy="2623277"/>
            <a:chOff x="786232" y="1972639"/>
            <a:chExt cx="10537960" cy="142483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937B9B8-9089-AAEE-97BE-5F4656EF99B3}"/>
                </a:ext>
              </a:extLst>
            </p:cNvPr>
            <p:cNvSpPr/>
            <p:nvPr/>
          </p:nvSpPr>
          <p:spPr>
            <a:xfrm>
              <a:off x="786232" y="1972639"/>
              <a:ext cx="10537960" cy="1424834"/>
            </a:xfrm>
            <a:prstGeom prst="rect">
              <a:avLst/>
            </a:prstGeom>
            <a:solidFill>
              <a:srgbClr val="BBB3AA">
                <a:alpha val="4581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7F0B688-5E95-C765-B78A-E2D84A48A35D}"/>
                </a:ext>
              </a:extLst>
            </p:cNvPr>
            <p:cNvSpPr/>
            <p:nvPr/>
          </p:nvSpPr>
          <p:spPr>
            <a:xfrm flipH="1">
              <a:off x="786232" y="1972639"/>
              <a:ext cx="158148" cy="14248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77D87A-89EB-0328-EAC8-E9F944BCD035}"/>
              </a:ext>
            </a:extLst>
          </p:cNvPr>
          <p:cNvGrpSpPr/>
          <p:nvPr/>
        </p:nvGrpSpPr>
        <p:grpSpPr>
          <a:xfrm>
            <a:off x="6288046" y="1955320"/>
            <a:ext cx="5036145" cy="1424834"/>
            <a:chOff x="786232" y="1972639"/>
            <a:chExt cx="5036145" cy="142483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6CB0C6-D3F6-CF24-3C16-B4EF453A728D}"/>
                </a:ext>
              </a:extLst>
            </p:cNvPr>
            <p:cNvSpPr/>
            <p:nvPr/>
          </p:nvSpPr>
          <p:spPr>
            <a:xfrm>
              <a:off x="786232" y="1972639"/>
              <a:ext cx="5036145" cy="1424834"/>
            </a:xfrm>
            <a:prstGeom prst="rect">
              <a:avLst/>
            </a:prstGeom>
            <a:solidFill>
              <a:srgbClr val="BBB3AA">
                <a:alpha val="4581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9BC014-177D-2284-7371-93679A9FE08B}"/>
                </a:ext>
              </a:extLst>
            </p:cNvPr>
            <p:cNvSpPr/>
            <p:nvPr/>
          </p:nvSpPr>
          <p:spPr>
            <a:xfrm flipH="1">
              <a:off x="786232" y="1972639"/>
              <a:ext cx="158148" cy="1424834"/>
            </a:xfrm>
            <a:prstGeom prst="rect">
              <a:avLst/>
            </a:prstGeom>
            <a:solidFill>
              <a:srgbClr val="177D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7EDCF38-5236-2A63-6406-89E4E69221AF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77D3D"/>
                </a:solidFill>
              </a:rPr>
              <a:t>Event Overview &amp; Methodology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6AF0B7-E4D3-222B-937E-86C04856A93E}"/>
              </a:ext>
            </a:extLst>
          </p:cNvPr>
          <p:cNvSpPr txBox="1"/>
          <p:nvPr/>
        </p:nvSpPr>
        <p:spPr>
          <a:xfrm>
            <a:off x="1209404" y="2067573"/>
            <a:ext cx="5036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June 14, 2022 | 2:00–6:00 PM</a:t>
            </a:r>
            <a:br>
              <a:rPr lang="en-US" dirty="0"/>
            </a:br>
            <a:r>
              <a:rPr lang="en-US" dirty="0"/>
              <a:t>Severe Midwest heat wave</a:t>
            </a:r>
            <a:br>
              <a:rPr lang="en-US" dirty="0"/>
            </a:br>
            <a:r>
              <a:rPr lang="en-US" dirty="0"/>
              <a:t>High demand + low wind output</a:t>
            </a:r>
            <a:br>
              <a:rPr lang="en-US" dirty="0"/>
            </a:br>
            <a:r>
              <a:rPr lang="en-US" dirty="0"/>
              <a:t>Emergency DR dispatch (first in ~6 months)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CFDB30-96F6-6B5E-2D76-F2C493804B0B}"/>
              </a:ext>
            </a:extLst>
          </p:cNvPr>
          <p:cNvSpPr txBox="1"/>
          <p:nvPr/>
        </p:nvSpPr>
        <p:spPr>
          <a:xfrm>
            <a:off x="6711218" y="2067573"/>
            <a:ext cx="3691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</a:t>
            </a:r>
          </a:p>
          <a:p>
            <a:r>
              <a:rPr lang="en-US" b="1" dirty="0"/>
              <a:t>5 customer sites</a:t>
            </a:r>
          </a:p>
          <a:p>
            <a:r>
              <a:rPr lang="en-US" dirty="0"/>
              <a:t>15-min interval meter data (kWh)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D054A-86D8-0248-4349-468E4BAEDDEA}"/>
              </a:ext>
            </a:extLst>
          </p:cNvPr>
          <p:cNvSpPr txBox="1"/>
          <p:nvPr/>
        </p:nvSpPr>
        <p:spPr>
          <a:xfrm>
            <a:off x="1209404" y="3977852"/>
            <a:ext cx="7889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BASELINE</a:t>
            </a:r>
          </a:p>
          <a:p>
            <a:endParaRPr lang="en-US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B70FBB7-11F6-9ED4-9A12-EE4003315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061778"/>
              </p:ext>
            </p:extLst>
          </p:nvPr>
        </p:nvGraphicFramePr>
        <p:xfrm>
          <a:off x="1209404" y="4406694"/>
          <a:ext cx="9165654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827">
                  <a:extLst>
                    <a:ext uri="{9D8B030D-6E8A-4147-A177-3AD203B41FA5}">
                      <a16:colId xmlns:a16="http://schemas.microsoft.com/office/drawing/2014/main" val="94156070"/>
                    </a:ext>
                  </a:extLst>
                </a:gridCol>
                <a:gridCol w="4582827">
                  <a:extLst>
                    <a:ext uri="{9D8B030D-6E8A-4147-A177-3AD203B41FA5}">
                      <a16:colId xmlns:a16="http://schemas.microsoft.com/office/drawing/2014/main" val="3092458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10of10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Firm Service Level (FSL)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73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Site-specific operational baseline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System benchmark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10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Average load during the 10 most recent comparable weekdays (or weekends), at the same hour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Based on MISO system peak conditions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519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1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43B60-4F8A-943B-CA0D-971229137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9470-4BE4-A0EE-0E77-E6421C2C7A4B}"/>
              </a:ext>
            </a:extLst>
          </p:cNvPr>
          <p:cNvSpPr txBox="1">
            <a:spLocks/>
          </p:cNvSpPr>
          <p:nvPr/>
        </p:nvSpPr>
        <p:spPr>
          <a:xfrm>
            <a:off x="518160" y="666351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1D1D"/>
                </a:solidFill>
              </a:rPr>
              <a:t>Portfolio Load Profiles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1B738-8D4A-2409-4F66-1A161DA8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22" y="1651483"/>
            <a:ext cx="10889483" cy="454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9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1FEDA-BB52-3117-6332-70B03CEA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16D8EA-BF2A-78BF-84D4-86C65ACC50FB}"/>
              </a:ext>
            </a:extLst>
          </p:cNvPr>
          <p:cNvSpPr txBox="1">
            <a:spLocks/>
          </p:cNvSpPr>
          <p:nvPr/>
        </p:nvSpPr>
        <p:spPr>
          <a:xfrm>
            <a:off x="521208" y="873477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1D1D"/>
                </a:solidFill>
              </a:rPr>
              <a:t>Building Type Inference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6D1D04-DBD6-FCC6-ED3B-AF962CBE3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484523"/>
              </p:ext>
            </p:extLst>
          </p:nvPr>
        </p:nvGraphicFramePr>
        <p:xfrm>
          <a:off x="513845" y="1873117"/>
          <a:ext cx="11156947" cy="4114800"/>
        </p:xfrm>
        <a:graphic>
          <a:graphicData uri="http://schemas.openxmlformats.org/drawingml/2006/table">
            <a:tbl>
              <a:tblPr/>
              <a:tblGrid>
                <a:gridCol w="673589">
                  <a:extLst>
                    <a:ext uri="{9D8B030D-6E8A-4147-A177-3AD203B41FA5}">
                      <a16:colId xmlns:a16="http://schemas.microsoft.com/office/drawing/2014/main" val="2224935247"/>
                    </a:ext>
                  </a:extLst>
                </a:gridCol>
                <a:gridCol w="2560109">
                  <a:extLst>
                    <a:ext uri="{9D8B030D-6E8A-4147-A177-3AD203B41FA5}">
                      <a16:colId xmlns:a16="http://schemas.microsoft.com/office/drawing/2014/main" val="3872928130"/>
                    </a:ext>
                  </a:extLst>
                </a:gridCol>
                <a:gridCol w="1933731">
                  <a:extLst>
                    <a:ext uri="{9D8B030D-6E8A-4147-A177-3AD203B41FA5}">
                      <a16:colId xmlns:a16="http://schemas.microsoft.com/office/drawing/2014/main" val="601013450"/>
                    </a:ext>
                  </a:extLst>
                </a:gridCol>
                <a:gridCol w="1615369">
                  <a:extLst>
                    <a:ext uri="{9D8B030D-6E8A-4147-A177-3AD203B41FA5}">
                      <a16:colId xmlns:a16="http://schemas.microsoft.com/office/drawing/2014/main" val="1314934011"/>
                    </a:ext>
                  </a:extLst>
                </a:gridCol>
                <a:gridCol w="4374149">
                  <a:extLst>
                    <a:ext uri="{9D8B030D-6E8A-4147-A177-3AD203B41FA5}">
                      <a16:colId xmlns:a16="http://schemas.microsoft.com/office/drawing/2014/main" val="2482386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E5E2DE"/>
                          </a:solidFill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E5E2DE"/>
                          </a:solidFill>
                        </a:rPr>
                        <a:t>Likely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E5E2DE"/>
                          </a:solidFill>
                        </a:rPr>
                        <a:t>Daily Variability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E5E2DE"/>
                          </a:solidFill>
                        </a:rPr>
                        <a:t>Weekend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E5E2DE"/>
                          </a:solidFill>
                        </a:rPr>
                        <a:t>Other Evidence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19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Large Industrial(M-F)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Large hourly swings (5MW -&gt; 20+MW)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Lower and more stable weekend load. Likely energy-intensive manufacturing processes that spikes up the load.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14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Mid-Sized Plants (M-F)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Weekday mean load ~ 5MW with low volatility; nearly shut down on weekends.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03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4E1D1D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Office/Institutional Buildings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Midday Peak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Minimal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Stable base load with low peak-base ratio (~1.6)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8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24/7 Commercial or hospital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Low, slight overnight trough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Minimal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Relatively stable load throughout; low peak-base ratio (~1.25)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84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4E1D1D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Small business-hour building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Daily Cycle, high usage 8am-9pm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4E1D1D"/>
                          </a:solidFill>
                        </a:rPr>
                        <a:t>Low average demand (~200kW).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6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66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30114-0BB3-D266-8635-255100E7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8488F8-9F82-7BF9-483B-87B1C7998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49" t="38730" r="1"/>
          <a:stretch>
            <a:fillRect/>
          </a:stretch>
        </p:blipFill>
        <p:spPr>
          <a:xfrm>
            <a:off x="5969498" y="1162813"/>
            <a:ext cx="5687350" cy="5216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48F2E0-91EA-7A08-D189-A9626FC44185}"/>
              </a:ext>
            </a:extLst>
          </p:cNvPr>
          <p:cNvSpPr txBox="1">
            <a:spLocks/>
          </p:cNvSpPr>
          <p:nvPr/>
        </p:nvSpPr>
        <p:spPr>
          <a:xfrm>
            <a:off x="518160" y="905640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44B2"/>
                </a:solidFill>
              </a:rPr>
              <a:t>Event Response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985504-5C9F-D548-4874-26E4024D2323}"/>
              </a:ext>
            </a:extLst>
          </p:cNvPr>
          <p:cNvGrpSpPr/>
          <p:nvPr/>
        </p:nvGrpSpPr>
        <p:grpSpPr>
          <a:xfrm>
            <a:off x="242390" y="2652584"/>
            <a:ext cx="5687350" cy="3748481"/>
            <a:chOff x="200024" y="2804186"/>
            <a:chExt cx="5729716" cy="35958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0FF107-BFEA-2E82-3886-57B12846B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0706"/>
            <a:stretch>
              <a:fillRect/>
            </a:stretch>
          </p:blipFill>
          <p:spPr>
            <a:xfrm>
              <a:off x="242389" y="2804186"/>
              <a:ext cx="5687351" cy="337026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B8C4BF3-F205-B098-7104-34E13AEF0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749" t="96097" r="1"/>
            <a:stretch>
              <a:fillRect/>
            </a:stretch>
          </p:blipFill>
          <p:spPr>
            <a:xfrm>
              <a:off x="200024" y="6066306"/>
              <a:ext cx="5729715" cy="333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090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AAF1F-66D8-AAB2-F5A6-E21A0329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A4049F-E363-E855-2482-DA191BE19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85911"/>
              </p:ext>
            </p:extLst>
          </p:nvPr>
        </p:nvGraphicFramePr>
        <p:xfrm>
          <a:off x="820893" y="2136586"/>
          <a:ext cx="4368634" cy="2825159"/>
        </p:xfrm>
        <a:graphic>
          <a:graphicData uri="http://schemas.openxmlformats.org/drawingml/2006/table">
            <a:tbl>
              <a:tblPr/>
              <a:tblGrid>
                <a:gridCol w="775386">
                  <a:extLst>
                    <a:ext uri="{9D8B030D-6E8A-4147-A177-3AD203B41FA5}">
                      <a16:colId xmlns:a16="http://schemas.microsoft.com/office/drawing/2014/main" val="4082545052"/>
                    </a:ext>
                  </a:extLst>
                </a:gridCol>
                <a:gridCol w="1140228">
                  <a:extLst>
                    <a:ext uri="{9D8B030D-6E8A-4147-A177-3AD203B41FA5}">
                      <a16:colId xmlns:a16="http://schemas.microsoft.com/office/drawing/2014/main" val="2907389533"/>
                    </a:ext>
                  </a:extLst>
                </a:gridCol>
                <a:gridCol w="1342161">
                  <a:extLst>
                    <a:ext uri="{9D8B030D-6E8A-4147-A177-3AD203B41FA5}">
                      <a16:colId xmlns:a16="http://schemas.microsoft.com/office/drawing/2014/main" val="594507171"/>
                    </a:ext>
                  </a:extLst>
                </a:gridCol>
                <a:gridCol w="1110859">
                  <a:extLst>
                    <a:ext uri="{9D8B030D-6E8A-4147-A177-3AD203B41FA5}">
                      <a16:colId xmlns:a16="http://schemas.microsoft.com/office/drawing/2014/main" val="364751865"/>
                    </a:ext>
                  </a:extLst>
                </a:gridCol>
              </a:tblGrid>
              <a:tr h="732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10of10 Avg 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FSL Avg 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Higher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462341"/>
                  </a:ext>
                </a:extLst>
              </a:tr>
              <a:tr h="41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Site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44B2"/>
                          </a:solidFill>
                        </a:rPr>
                        <a:t>3937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3337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10of10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142138"/>
                  </a:ext>
                </a:extLst>
              </a:tr>
              <a:tr h="41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Site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4345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44B2"/>
                          </a:solidFill>
                        </a:rPr>
                        <a:t>5075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FSL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58920"/>
                  </a:ext>
                </a:extLst>
              </a:tr>
              <a:tr h="41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Site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649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44B2"/>
                          </a:solidFill>
                        </a:rPr>
                        <a:t>850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FSL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453980"/>
                  </a:ext>
                </a:extLst>
              </a:tr>
              <a:tr h="41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Site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44B2"/>
                          </a:solidFill>
                        </a:rPr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3235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10of10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327600"/>
                  </a:ext>
                </a:extLst>
              </a:tr>
              <a:tr h="41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Site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44B2"/>
                          </a:solidFill>
                        </a:rPr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FSL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974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4012E5D-478B-9DF5-B7B2-DC7FF8631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3" y="5261124"/>
            <a:ext cx="97807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 panose="020B0004020202020204" pitchFamily="34" charset="0"/>
              </a:rPr>
              <a:t>Baseline methodology affects performance</a:t>
            </a:r>
            <a:r>
              <a:rPr lang="en-US" altLang="en-US" dirty="0">
                <a:latin typeface="Bierstadt" panose="020B0004020202020204" pitchFamily="34" charset="0"/>
              </a:rPr>
              <a:t> measured, and thus financial payout.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erstadt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 panose="020B0004020202020204" pitchFamily="34" charset="0"/>
              </a:rPr>
              <a:t>Different operational pattern benefit from different baselines: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If the customer has been recently using high load, then the 10of10 baseline would increase, making their event reduction look larger.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83B45F-D67D-021E-A9C6-439F2DF8149B}"/>
              </a:ext>
            </a:extLst>
          </p:cNvPr>
          <p:cNvSpPr txBox="1">
            <a:spLocks/>
          </p:cNvSpPr>
          <p:nvPr/>
        </p:nvSpPr>
        <p:spPr>
          <a:xfrm>
            <a:off x="518160" y="673546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1D1D"/>
                </a:solidFill>
              </a:rPr>
              <a:t>Baseline Performance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35A4EC4-31E3-86CB-90FF-DF0FA59C9E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626781"/>
              </p:ext>
            </p:extLst>
          </p:nvPr>
        </p:nvGraphicFramePr>
        <p:xfrm>
          <a:off x="5717627" y="1576552"/>
          <a:ext cx="5653479" cy="3547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122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7E444-1363-E0F2-E63A-D3315D27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A0C791-2093-9F9D-AB3C-76EF55B23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221927"/>
              </p:ext>
            </p:extLst>
          </p:nvPr>
        </p:nvGraphicFramePr>
        <p:xfrm>
          <a:off x="887433" y="2090945"/>
          <a:ext cx="6497238" cy="3024222"/>
        </p:xfrm>
        <a:graphic>
          <a:graphicData uri="http://schemas.openxmlformats.org/drawingml/2006/table">
            <a:tbl>
              <a:tblPr/>
              <a:tblGrid>
                <a:gridCol w="970590">
                  <a:extLst>
                    <a:ext uri="{9D8B030D-6E8A-4147-A177-3AD203B41FA5}">
                      <a16:colId xmlns:a16="http://schemas.microsoft.com/office/drawing/2014/main" val="1862058540"/>
                    </a:ext>
                  </a:extLst>
                </a:gridCol>
                <a:gridCol w="1741713">
                  <a:extLst>
                    <a:ext uri="{9D8B030D-6E8A-4147-A177-3AD203B41FA5}">
                      <a16:colId xmlns:a16="http://schemas.microsoft.com/office/drawing/2014/main" val="1157551"/>
                    </a:ext>
                  </a:extLst>
                </a:gridCol>
                <a:gridCol w="1861247">
                  <a:extLst>
                    <a:ext uri="{9D8B030D-6E8A-4147-A177-3AD203B41FA5}">
                      <a16:colId xmlns:a16="http://schemas.microsoft.com/office/drawing/2014/main" val="1528097750"/>
                    </a:ext>
                  </a:extLst>
                </a:gridCol>
                <a:gridCol w="1923688">
                  <a:extLst>
                    <a:ext uri="{9D8B030D-6E8A-4147-A177-3AD203B41FA5}">
                      <a16:colId xmlns:a16="http://schemas.microsoft.com/office/drawing/2014/main" val="1916590104"/>
                    </a:ext>
                  </a:extLst>
                </a:gridCol>
              </a:tblGrid>
              <a:tr h="397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Gross 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Customer 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Voltus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502340"/>
                  </a:ext>
                </a:extLst>
              </a:tr>
              <a:tr h="3973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Site 1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$24,217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$15,499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$8,718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5775"/>
                  </a:ext>
                </a:extLst>
              </a:tr>
              <a:tr h="3973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Site 2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$30,770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$19,077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$11,693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920798"/>
                  </a:ext>
                </a:extLst>
              </a:tr>
              <a:tr h="3973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Site 3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$4,600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$2,576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$2,024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841086"/>
                  </a:ext>
                </a:extLst>
              </a:tr>
              <a:tr h="3973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Site 5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$23,873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$15,518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$8,356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873852"/>
                  </a:ext>
                </a:extLst>
              </a:tr>
              <a:tr h="3973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Site 6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$71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$36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$35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378783"/>
                  </a:ext>
                </a:extLst>
              </a:tr>
              <a:tr h="3973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Sum</a:t>
                      </a:r>
                    </a:p>
                  </a:txBody>
                  <a:tcPr marL="57150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$83,531 </a:t>
                      </a:r>
                    </a:p>
                  </a:txBody>
                  <a:tcPr marL="57150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$52,706 </a:t>
                      </a:r>
                    </a:p>
                  </a:txBody>
                  <a:tcPr marL="57150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$30,826 </a:t>
                      </a:r>
                    </a:p>
                  </a:txBody>
                  <a:tcPr marL="57150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BB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79764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AA1FA04-86DB-A8C5-4BF6-FF3244B9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33" y="5629194"/>
            <a:ext cx="56025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 panose="020B0004020202020204" pitchFamily="34" charset="0"/>
              </a:rPr>
              <a:t>Revenue concentrated in Sites 1, 2, and 5.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 panose="020B0004020202020204" pitchFamily="34" charset="0"/>
              </a:rPr>
              <a:t>Assumption: negative performance floored at 0.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35FE4B-E0F9-AE6F-4628-5AB4783462A7}"/>
              </a:ext>
            </a:extLst>
          </p:cNvPr>
          <p:cNvSpPr txBox="1">
            <a:spLocks/>
          </p:cNvSpPr>
          <p:nvPr/>
        </p:nvSpPr>
        <p:spPr>
          <a:xfrm>
            <a:off x="518160" y="905640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1D1D"/>
                </a:solidFill>
              </a:rPr>
              <a:t>Financial Results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8B05BB8-B6CD-9D76-8D4A-3FB177729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306437"/>
              </p:ext>
            </p:extLst>
          </p:nvPr>
        </p:nvGraphicFramePr>
        <p:xfrm>
          <a:off x="7556970" y="1922607"/>
          <a:ext cx="3944570" cy="3360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839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D545E-6EF5-A5EB-269B-C0AF97E6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2DF9EDF-FBD0-560B-1111-E4FD2723B12A}"/>
              </a:ext>
            </a:extLst>
          </p:cNvPr>
          <p:cNvSpPr txBox="1">
            <a:spLocks/>
          </p:cNvSpPr>
          <p:nvPr/>
        </p:nvSpPr>
        <p:spPr>
          <a:xfrm>
            <a:off x="518159" y="701889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1D1D"/>
                </a:solidFill>
              </a:rPr>
              <a:t>Site 2 Deep Dive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80D7304-3053-1B25-793B-5AB5CB44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" y="1791140"/>
            <a:ext cx="11330331" cy="44724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F586E26-D435-37DB-6681-719FEE4B6EBF}"/>
              </a:ext>
            </a:extLst>
          </p:cNvPr>
          <p:cNvSpPr txBox="1"/>
          <p:nvPr/>
        </p:nvSpPr>
        <p:spPr>
          <a:xfrm>
            <a:off x="7305253" y="4027389"/>
            <a:ext cx="3880907" cy="1477328"/>
          </a:xfrm>
          <a:prstGeom prst="rect">
            <a:avLst/>
          </a:prstGeom>
          <a:solidFill>
            <a:srgbClr val="E5E2DE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Bierstadt" panose="020B0004020202020204" pitchFamily="34" charset="0"/>
              </a:rPr>
              <a:t>Site 2 was the strongest performer. Event load dropped to ~320 kW against a ~4,700 kW baseline, meaning it curtailed over 90% of its normal usage. </a:t>
            </a:r>
            <a:endParaRPr lang="en-US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5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E95CB-7B85-E27D-5D21-2FD6F393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B2C234-0C80-B8AF-9235-D125F24C9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719434"/>
              </p:ext>
            </p:extLst>
          </p:nvPr>
        </p:nvGraphicFramePr>
        <p:xfrm>
          <a:off x="1307888" y="4235871"/>
          <a:ext cx="9817311" cy="20376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8272">
                  <a:extLst>
                    <a:ext uri="{9D8B030D-6E8A-4147-A177-3AD203B41FA5}">
                      <a16:colId xmlns:a16="http://schemas.microsoft.com/office/drawing/2014/main" val="2826846304"/>
                    </a:ext>
                  </a:extLst>
                </a:gridCol>
                <a:gridCol w="1035970">
                  <a:extLst>
                    <a:ext uri="{9D8B030D-6E8A-4147-A177-3AD203B41FA5}">
                      <a16:colId xmlns:a16="http://schemas.microsoft.com/office/drawing/2014/main" val="307441199"/>
                    </a:ext>
                  </a:extLst>
                </a:gridCol>
                <a:gridCol w="1523484">
                  <a:extLst>
                    <a:ext uri="{9D8B030D-6E8A-4147-A177-3AD203B41FA5}">
                      <a16:colId xmlns:a16="http://schemas.microsoft.com/office/drawing/2014/main" val="2479157609"/>
                    </a:ext>
                  </a:extLst>
                </a:gridCol>
                <a:gridCol w="1584424">
                  <a:extLst>
                    <a:ext uri="{9D8B030D-6E8A-4147-A177-3AD203B41FA5}">
                      <a16:colId xmlns:a16="http://schemas.microsoft.com/office/drawing/2014/main" val="488395521"/>
                    </a:ext>
                  </a:extLst>
                </a:gridCol>
                <a:gridCol w="1218789">
                  <a:extLst>
                    <a:ext uri="{9D8B030D-6E8A-4147-A177-3AD203B41FA5}">
                      <a16:colId xmlns:a16="http://schemas.microsoft.com/office/drawing/2014/main" val="2814962895"/>
                    </a:ext>
                  </a:extLst>
                </a:gridCol>
                <a:gridCol w="1263056">
                  <a:extLst>
                    <a:ext uri="{9D8B030D-6E8A-4147-A177-3AD203B41FA5}">
                      <a16:colId xmlns:a16="http://schemas.microsoft.com/office/drawing/2014/main" val="4169720327"/>
                    </a:ext>
                  </a:extLst>
                </a:gridCol>
                <a:gridCol w="1246275">
                  <a:extLst>
                    <a:ext uri="{9D8B030D-6E8A-4147-A177-3AD203B41FA5}">
                      <a16:colId xmlns:a16="http://schemas.microsoft.com/office/drawing/2014/main" val="1344721592"/>
                    </a:ext>
                  </a:extLst>
                </a:gridCol>
                <a:gridCol w="1177041">
                  <a:extLst>
                    <a:ext uri="{9D8B030D-6E8A-4147-A177-3AD203B41FA5}">
                      <a16:colId xmlns:a16="http://schemas.microsoft.com/office/drawing/2014/main" val="3017308708"/>
                    </a:ext>
                  </a:extLst>
                </a:gridCol>
              </a:tblGrid>
              <a:tr h="5732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Hour</a:t>
                      </a:r>
                    </a:p>
                  </a:txBody>
                  <a:tcPr marL="57150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Load (kw)</a:t>
                      </a:r>
                    </a:p>
                  </a:txBody>
                  <a:tcPr marL="57150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10of10 Baseline (kW)</a:t>
                      </a:r>
                    </a:p>
                  </a:txBody>
                  <a:tcPr marL="57150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10of10 Performance (kW)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LMP ($/MWh)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Gross Rev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COGS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Profit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640754"/>
                  </a:ext>
                </a:extLst>
              </a:tr>
              <a:tr h="292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14:00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328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4,744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4,417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1,500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$6,625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$4,108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$2,518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325261"/>
                  </a:ext>
                </a:extLst>
              </a:tr>
              <a:tr h="292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15:00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320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4,676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4,356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1,800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$7,841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$4,861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$2,980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751993"/>
                  </a:ext>
                </a:extLst>
              </a:tr>
              <a:tr h="292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16:00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331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4,652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4,320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3,000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$12,961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$8,036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$4,925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017697"/>
                  </a:ext>
                </a:extLst>
              </a:tr>
              <a:tr h="292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17:00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320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4,606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4,286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780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$3,343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$2,073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$1,270 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323023"/>
                  </a:ext>
                </a:extLst>
              </a:tr>
              <a:tr h="29288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Total</a:t>
                      </a: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$30,770 </a:t>
                      </a: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$19,078 </a:t>
                      </a: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</a:rPr>
                        <a:t>$11,693 </a:t>
                      </a: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217073"/>
                  </a:ext>
                </a:extLst>
              </a:tr>
            </a:tbl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FD6BAA81-DE0A-D709-034B-895BFC91F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0766090"/>
              </p:ext>
            </p:extLst>
          </p:nvPr>
        </p:nvGraphicFramePr>
        <p:xfrm>
          <a:off x="1112521" y="701040"/>
          <a:ext cx="6537959" cy="3261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D4C437-2252-DB82-D434-F1E55D44EDA0}"/>
              </a:ext>
            </a:extLst>
          </p:cNvPr>
          <p:cNvSpPr txBox="1"/>
          <p:nvPr/>
        </p:nvSpPr>
        <p:spPr>
          <a:xfrm>
            <a:off x="8225312" y="2228671"/>
            <a:ext cx="30370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Bierstadt" panose="020B0004020202020204" pitchFamily="34" charset="0"/>
              </a:rPr>
              <a:t>The 16:00 hour alone generated nearly $13K in gross revenue due to the $3,000/MWh LMP spike.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65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2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9A98A-7125-99BF-80CC-C47E9446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CD1DF8E-EB99-34ED-6356-7099AD39FE3E}"/>
              </a:ext>
            </a:extLst>
          </p:cNvPr>
          <p:cNvSpPr/>
          <p:nvPr/>
        </p:nvSpPr>
        <p:spPr>
          <a:xfrm>
            <a:off x="849787" y="3242732"/>
            <a:ext cx="9987545" cy="1361635"/>
          </a:xfrm>
          <a:prstGeom prst="rect">
            <a:avLst/>
          </a:prstGeom>
          <a:solidFill>
            <a:srgbClr val="BBB3AA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530C86-3F73-B564-E438-B4286D726496}"/>
              </a:ext>
            </a:extLst>
          </p:cNvPr>
          <p:cNvSpPr/>
          <p:nvPr/>
        </p:nvSpPr>
        <p:spPr>
          <a:xfrm>
            <a:off x="849787" y="4723889"/>
            <a:ext cx="9981115" cy="1463040"/>
          </a:xfrm>
          <a:prstGeom prst="rect">
            <a:avLst/>
          </a:prstGeom>
          <a:solidFill>
            <a:srgbClr val="BBB3AA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B0C57-CD4F-8293-E3AC-1EB654BAB9CF}"/>
              </a:ext>
            </a:extLst>
          </p:cNvPr>
          <p:cNvSpPr/>
          <p:nvPr/>
        </p:nvSpPr>
        <p:spPr>
          <a:xfrm>
            <a:off x="849787" y="1601984"/>
            <a:ext cx="9987545" cy="1538899"/>
          </a:xfrm>
          <a:prstGeom prst="rect">
            <a:avLst/>
          </a:prstGeom>
          <a:solidFill>
            <a:srgbClr val="BBB3AA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931998-3335-D2D8-7651-66BE9BF76711}"/>
              </a:ext>
            </a:extLst>
          </p:cNvPr>
          <p:cNvSpPr txBox="1"/>
          <p:nvPr/>
        </p:nvSpPr>
        <p:spPr>
          <a:xfrm>
            <a:off x="1186255" y="1673301"/>
            <a:ext cx="64289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If given 500 CSVs?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Modular code with reusable functions.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 scale almost linearly with number of 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incremental effort: QA /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Optionally, parallelize computations for each site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EE257E-CC47-9766-E6C2-C0A65F845CEF}"/>
              </a:ext>
            </a:extLst>
          </p:cNvPr>
          <p:cNvSpPr txBox="1">
            <a:spLocks/>
          </p:cNvSpPr>
          <p:nvPr/>
        </p:nvSpPr>
        <p:spPr>
          <a:xfrm>
            <a:off x="535094" y="719373"/>
            <a:ext cx="11155680" cy="1463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77D3D"/>
                </a:solidFill>
              </a:rPr>
              <a:t>Scalability &amp;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3926E-CC26-F631-F011-45DD0E9E4F67}"/>
              </a:ext>
            </a:extLst>
          </p:cNvPr>
          <p:cNvSpPr txBox="1"/>
          <p:nvPr/>
        </p:nvSpPr>
        <p:spPr>
          <a:xfrm>
            <a:off x="1192686" y="3331329"/>
            <a:ext cx="96446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Strength of the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for larger dataset; clear separation of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Parameter-driven config (no hard-coded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Clearly documented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ABCDF-D391-B566-9BE2-376901D47253}"/>
              </a:ext>
            </a:extLst>
          </p:cNvPr>
          <p:cNvSpPr txBox="1"/>
          <p:nvPr/>
        </p:nvSpPr>
        <p:spPr>
          <a:xfrm>
            <a:off x="1186255" y="4808657"/>
            <a:ext cx="9644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Future improvement: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holiday calendar and exclude them in weekday baseline calculations.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ways to detect missing values/outliers/duplicates.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handle edge cases: multi-day dispatch event, discontinuous event windows, etc. </a:t>
            </a:r>
          </a:p>
        </p:txBody>
      </p:sp>
    </p:spTree>
    <p:extLst>
      <p:ext uri="{BB962C8B-B14F-4D97-AF65-F5344CB8AC3E}">
        <p14:creationId xmlns:p14="http://schemas.microsoft.com/office/powerpoint/2010/main" val="228306933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691</Words>
  <Application>Microsoft Macintosh PowerPoint</Application>
  <PresentationFormat>Widescreen</PresentationFormat>
  <Paragraphs>189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Bierstadt</vt:lpstr>
      <vt:lpstr>GestaltVTI</vt:lpstr>
      <vt:lpstr>Demand Response Event Analysis: 6/14/22 Heat Wave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Ruiyan Huang</dc:creator>
  <cp:lastModifiedBy>Ruiyan Huang</cp:lastModifiedBy>
  <cp:revision>1</cp:revision>
  <dcterms:created xsi:type="dcterms:W3CDTF">2026-03-03T02:13:37Z</dcterms:created>
  <dcterms:modified xsi:type="dcterms:W3CDTF">2026-03-03T21:15:06Z</dcterms:modified>
</cp:coreProperties>
</file>